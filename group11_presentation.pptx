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slides/charts/chart1.xml" ContentType="application/vnd.openxmlformats-officedocument.drawingml.chart+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ec9790fbff1c44d2" /><Relationship Type="http://schemas.openxmlformats.org/officeDocument/2006/relationships/extended-properties" Target="/docProps/app.xml" Id="R49e9e4864e1443e0" /><Relationship Type="http://schemas.openxmlformats.org/officeDocument/2006/relationships/officeDocument" Target="/ppt/presentation.xml" Id="R8778d5abd94c41b7" /></Relationships>
</file>

<file path=ppt/presentation.xml><?xml version="1.0" encoding="utf-8"?>
<p:presentation xmlns:p="http://schemas.openxmlformats.org/presentationml/2006/main">
  <p:sldMasterIdLst>
    <p:sldMasterId xmlns:r="http://schemas.openxmlformats.org/officeDocument/2006/relationships" id="2147483648" r:id="Recf5efb28d8d4a03"/>
  </p:sldMasterIdLst>
  <p:notesMasterIdLst>
    <p:notesMasterId xmlns:r="http://schemas.openxmlformats.org/officeDocument/2006/relationships" r:id="R0ef639d550da4107"/>
  </p:notesMasterIdLst>
  <p:sldIdLst>
    <p:sldId xmlns:r="http://schemas.openxmlformats.org/officeDocument/2006/relationships" id="256" r:id="Re4b809ef57814ad2"/>
    <p:sldId xmlns:r="http://schemas.openxmlformats.org/officeDocument/2006/relationships" id="257" r:id="R2afe403116014f41"/>
    <p:sldId xmlns:r="http://schemas.openxmlformats.org/officeDocument/2006/relationships" id="258" r:id="R8905568e7e8a4743"/>
    <p:sldId xmlns:r="http://schemas.openxmlformats.org/officeDocument/2006/relationships" id="259" r:id="R370f525f11ca4639"/>
    <p:sldId xmlns:r="http://schemas.openxmlformats.org/officeDocument/2006/relationships" id="260" r:id="Rc2fdad650ea544a8"/>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87f65f914dda481c" /><Relationship Type="http://schemas.openxmlformats.org/officeDocument/2006/relationships/slideMaster" Target="/ppt/slideMasters/slideMaster1.xml" Id="Recf5efb28d8d4a03" /><Relationship Type="http://schemas.openxmlformats.org/officeDocument/2006/relationships/notesMaster" Target="/ppt/notesMasters/notesMaster1.xml" Id="R0ef639d550da4107" /><Relationship Type="http://schemas.openxmlformats.org/officeDocument/2006/relationships/presProps" Target="/ppt/presProps.xml" Id="Rc65357db2da546b6" /><Relationship Type="http://schemas.openxmlformats.org/officeDocument/2006/relationships/tableStyles" Target="/ppt/tableStyles.xml" Id="R420dcf82f1e94311" /><Relationship Type="http://schemas.openxmlformats.org/officeDocument/2006/relationships/slide" Target="/ppt/slides/slide1.xml" Id="Re4b809ef57814ad2" /><Relationship Type="http://schemas.openxmlformats.org/officeDocument/2006/relationships/slide" Target="/ppt/slides/slide2.xml" Id="R2afe403116014f41" /><Relationship Type="http://schemas.openxmlformats.org/officeDocument/2006/relationships/slide" Target="/ppt/slides/slide3.xml" Id="R8905568e7e8a4743" /><Relationship Type="http://schemas.openxmlformats.org/officeDocument/2006/relationships/slide" Target="/ppt/slides/slide4.xml" Id="R370f525f11ca4639" /><Relationship Type="http://schemas.openxmlformats.org/officeDocument/2006/relationships/slide" Target="/ppt/slides/slide5.xml" Id="Rc2fdad650ea544a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81990d2e76945b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9e3141c8d9a411c" /><Relationship Type="http://schemas.openxmlformats.org/officeDocument/2006/relationships/notesMaster" Target="/ppt/notesMasters/notesMaster1.xml" Id="R2e7b3383bdf54433" /></Relationships>
</file>

<file path=ppt/notesSlides/_rels/notesSlide2.xml.rels>&#65279;<?xml version="1.0" encoding="utf-8"?><Relationships xmlns="http://schemas.openxmlformats.org/package/2006/relationships"><Relationship Type="http://schemas.openxmlformats.org/officeDocument/2006/relationships/slide" Target="/ppt/slides/slide2.xml" Id="R0e51c7a7c34b427d" /><Relationship Type="http://schemas.openxmlformats.org/officeDocument/2006/relationships/notesMaster" Target="/ppt/notesMasters/notesMaster1.xml" Id="R1a0daed109ae4eb0" /></Relationships>
</file>

<file path=ppt/notesSlides/_rels/notesSlide3.xml.rels>&#65279;<?xml version="1.0" encoding="utf-8"?><Relationships xmlns="http://schemas.openxmlformats.org/package/2006/relationships"><Relationship Type="http://schemas.openxmlformats.org/officeDocument/2006/relationships/slide" Target="/ppt/slides/slide3.xml" Id="R8f0eb9db5b774b8a" /><Relationship Type="http://schemas.openxmlformats.org/officeDocument/2006/relationships/notesMaster" Target="/ppt/notesMasters/notesMaster1.xml" Id="R1876b8926d1d42c2" /></Relationships>
</file>

<file path=ppt/notesSlides/_rels/notesSlide4.xml.rels>&#65279;<?xml version="1.0" encoding="utf-8"?><Relationships xmlns="http://schemas.openxmlformats.org/package/2006/relationships"><Relationship Type="http://schemas.openxmlformats.org/officeDocument/2006/relationships/slide" Target="/ppt/slides/slide4.xml" Id="Ra6b18c9329e1420f" /><Relationship Type="http://schemas.openxmlformats.org/officeDocument/2006/relationships/notesMaster" Target="/ppt/notesMasters/notesMaster1.xml" Id="R310970c0fcaa4d05" /></Relationships>
</file>

<file path=ppt/notesSlides/_rels/notesSlide5.xml.rels>&#65279;<?xml version="1.0" encoding="utf-8"?><Relationships xmlns="http://schemas.openxmlformats.org/package/2006/relationships"><Relationship Type="http://schemas.openxmlformats.org/officeDocument/2006/relationships/slide" Target="/ppt/slides/slide5.xml" Id="R9c9b4ec58372470a" /><Relationship Type="http://schemas.openxmlformats.org/officeDocument/2006/relationships/notesMaster" Target="/ppt/notesMasters/notesMaster1.xml" Id="R5a5d7edc71c0422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Slide 1 from 00 to 01 minute</a:t>
            </a:r>
          </a:p>
          <a:p xmlns:a="http://schemas.openxmlformats.org/drawingml/2006/main">
            <a:r>
              <a:t/>
            </a:r>
          </a:p>
          <a:p xmlns:a="http://schemas.openxmlformats.org/drawingml/2006/main">
            <a:r>
              <a:t>Good afternoon. We are Group 11, and our project is JobCompass, a local Python application for resume-based job discovery. Job seekers often switch between several websites, compare inconsistent descriptions and maintain separate application notes. Our application brings those activities into one workflow. A user imports a resume, checks recognized skills and compares jobs with visible reasons for each score. The application also records saved jobs and application progress. Optional DeepSeek assistance can suggest clearer resume wording. The interface runs in the browser, while Python and SQLite run on the same computer. We start main.py and open the local address rather than opening the HTML file directly. The demonstration uses a fictional resume.</a:t>
            </a:r>
          </a:p>
          <a:p xmlns:a="http://schemas.openxmlformats.org/drawingml/2006/main">
            <a:r>
              <a:t/>
            </a:r>
          </a:p>
          <a:p xmlns:a="http://schemas.openxmlformats.org/drawingml/2006/main">
            <a:r>
              <a:t>Sources: README.md and the independent fictional-resume demo database. Screenshot total 6,920 = 6,908 imported JobsDB jobs + 12 fictional samples.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Slide 2 from 01 to 02 minutes</a:t>
            </a:r>
          </a:p>
          <a:p xmlns:a="http://schemas.openxmlformats.org/drawingml/2006/main">
            <a:r>
              <a:t/>
            </a:r>
          </a:p>
          <a:p xmlns:a="http://schemas.openxmlformats.org/drawingml/2006/main">
            <a:r>
              <a:t>The implementation separates responsibilities into Python modules. Resume processing uses regular expressions and file readers. Data-source modules normalize public API records and local imports. A separate benchmark module processes the research archive and produces a reproducible compressed dataset. The matching module uses weighted F1 and TF-IDF similarity. SQLite stores jobs and application records with parameterized SQL and transactions. The HTTP layer exposes the interface and starts bounded background tasks for collection and AI calls. This design makes behavior easier to test without contacting an external service. It demonstrates functions, classes, modules, file input, data structures, networking, persistence, specification and testing. Secrets stay in local configuration and do not enter the submitted package.</a:t>
            </a:r>
          </a:p>
          <a:p xmlns:a="http://schemas.openxmlformats.org/drawingml/2006/main">
            <a:r>
              <a:t/>
            </a:r>
          </a:p>
          <a:p xmlns:a="http://schemas.openxmlformats.org/drawingml/2006/main">
            <a:r>
              <a:t>Sources: jobcompass modules, docs/SPECIFICATION.md and tests.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Slide 3 from 02 to 03 minutes</a:t>
            </a:r>
          </a:p>
          <a:p xmlns:a="http://schemas.openxmlformats.org/drawingml/2006/main">
            <a:r>
              <a:t/>
            </a:r>
          </a:p>
          <a:p xmlns:a="http://schemas.openxmlformats.org/drawingml/2006/main">
            <a:r>
              <a:t>The project supports two live public integrations, Remotive and Arbeitnow. It also integrates an existing JobsDB research archive from the group's collection, dated 28 September 2026. We read that archive locally rather than claim a new live JobsDB scraper. It contains 6,939 input records. Validation accepts 6,910 and rejects 29 with invalid or missing required data. The app imports 6,908 because two records were already marked expired. Cleaning removes HTML and tracking objects, retains canonical job links and masks common contact text. The manifest records checksums so the input and output can be identified. These are historical vacancies. Their presence in the research dataset does not guarantee that an employer is still recruiting.</a:t>
            </a:r>
          </a:p>
          <a:p xmlns:a="http://schemas.openxmlformats.org/drawingml/2006/main">
            <a:r>
              <a:t/>
            </a:r>
          </a:p>
          <a:p xmlns:a="http://schemas.openxmlformats.org/drawingml/2006/main">
            <a:r>
              <a:t>Sources: data/benchmark/jobsdb_20260928.manifest.json and docs/BENCHMARK.md. Earlier live API check counts are historical, not permanent availability.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Slide 4 from 03 to 04 minutes</a:t>
            </a:r>
          </a:p>
          <a:p xmlns:a="http://schemas.openxmlformats.org/drawingml/2006/main">
            <a:r>
              <a:t/>
            </a:r>
          </a:p>
          <a:p xmlns:a="http://schemas.openxmlformats.org/drawingml/2006/main">
            <a:r>
              <a:t>The matching score has five components. Skills contribute a base weight of 45 percent, text 25 percent, experience 15 percent, location 10 percent and education 5 percent. Skill matching uses weighted precision and recall, so a generic skill alone has limited influence. Unknown requirements leave the active denominator, and the interface displays coverage. TF-IDF depends on the current job corpus, so scores can change when more jobs enter the database. Each job detail shows matched skills and gaps for human inspection. DeepSeek supplies explanations and a separate resume draft after user authorization. It does not set the numeric ranking score. The score helps prioritize investigation and cannot represent a hiring probability.</a:t>
            </a:r>
          </a:p>
          <a:p xmlns:a="http://schemas.openxmlformats.org/drawingml/2006/main">
            <a:r>
              <a:t/>
            </a:r>
          </a:p>
          <a:p xmlns:a="http://schemas.openxmlformats.org/drawingml/2006/main">
            <a:r>
              <a:t>Sources: jobcompass/matching.py, ai.py and docs/SPECIFICATION.md. Base weights 45, 25, 15, 10, 5. Unknown conditions leave the denominator.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Slide 5 from 04 to 05 minutes</a:t>
            </a:r>
          </a:p>
          <a:p xmlns:a="http://schemas.openxmlformats.org/drawingml/2006/main">
            <a:r>
              <a:t/>
            </a:r>
          </a:p>
          <a:p xmlns:a="http://schemas.openxmlformats.org/drawingml/2006/main">
            <a:r>
              <a:t>The current version passes 71 local automated tests. These cover invalid inputs, persistence, matching, request boundaries and the research import pipeline. The real-data benchmark ranks 6,910 accepted JobsDB records for a fictional resume. Its recorded median is 4.0517 seconds across three local runs. This measures ranking runtime only. There are no human relevance labels, so we do not claim real-data accuracy, recall or NDCG. The separate synthetic fixture has twelve authored jobs and only demonstrates expected sample behavior. Our demonstration shows the resume evidence, a score breakdown and a saved application record. Codex assisted implementation and documentation. Each member must verify the project and report their own actual contributions. Independent relevance annotation is a future improvement.</a:t>
            </a:r>
          </a:p>
          <a:p xmlns:a="http://schemas.openxmlformats.org/drawingml/2006/main">
            <a:r>
              <a:t/>
            </a:r>
          </a:p>
          <a:p xmlns:a="http://schemas.openxmlformats.org/drawingml/2006/main">
            <a:r>
              <a:t>Sources: docs/test_results.txt and docs/benchmark_jobsdb.json. Timing on macOS with Python 3.8.10 excludes import and browser rendering. Cloud CI does not execute inside the published ZIP.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0433ba2a4ec4a8e"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9ce4da5cb4c4ec9" /><Relationship Type="http://schemas.openxmlformats.org/officeDocument/2006/relationships/slideLayout" Target="/ppt/slideLayouts/slideLayout1.xml" Id="R5c0508a4380247c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c0508a4380247c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0926237cb1b4426d" /><Relationship Type="http://schemas.openxmlformats.org/officeDocument/2006/relationships/image" Target="/ppt/media/image.jpeg" Id="Raff0a9d60cba4a96" /><Relationship Type="http://schemas.openxmlformats.org/officeDocument/2006/relationships/notesSlide" Target="/ppt/notesSlides/notesSlide1.xml" Id="Rb4b9e74cb6b448d3"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003e0b9a358043b7" /><Relationship Type="http://schemas.openxmlformats.org/officeDocument/2006/relationships/notesSlide" Target="/ppt/notesSlides/notesSlide2.xml" Id="R84662048584b4318"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9de37b00f51d466b" /><Relationship Type="http://schemas.openxmlformats.org/officeDocument/2006/relationships/image" Target="/ppt/media/image2.jpeg" Id="R2d53cc53ba65424e" /><Relationship Type="http://schemas.openxmlformats.org/officeDocument/2006/relationships/notesSlide" Target="/ppt/notesSlides/notesSlide3.xml" Id="Rd7c3337f44134b8f"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85ae9a978fc04adb" /><Relationship Type="http://schemas.openxmlformats.org/officeDocument/2006/relationships/chart" Target="/ppt/slides/charts/chart1.xml" Id="R019b431b4c944db7" /><Relationship Type="http://schemas.openxmlformats.org/officeDocument/2006/relationships/notesSlide" Target="/ppt/notesSlides/notesSlide4.xml" Id="R8a48faab29654ddb"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0e337e31814044f5" /><Relationship Type="http://schemas.openxmlformats.org/officeDocument/2006/relationships/notesSlide" Target="/ppt/notesSlides/notesSlide5.xml" Id="Rd1c58f77dff54d1a"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0"/>
        <c:ser>
          <c:idx val="0"/>
          <c:order val="0"/>
          <c:tx>
            <c:v>Base weight (%)</c:v>
          </c:tx>
          <c:spPr>
            <a:solidFill xmlns:a="http://schemas.openxmlformats.org/drawingml/2006/main">
              <a:srgbClr val="087D75"/>
            </a:solidFill>
          </c:spPr>
          <c:cat>
            <c:strRef>
              <c:f>'Chart Data'!$A$2:$A$6</c:f>
              <c:strCache>
                <c:ptCount val="5"/>
                <c:pt idx="0">
                  <c:v>Skills</c:v>
                </c:pt>
                <c:pt idx="1">
                  <c:v>Text</c:v>
                </c:pt>
                <c:pt idx="2">
                  <c:v>Experience</c:v>
                </c:pt>
                <c:pt idx="3">
                  <c:v>Location</c:v>
                </c:pt>
                <c:pt idx="4">
                  <c:v>Education</c:v>
                </c:pt>
              </c:strCache>
            </c:strRef>
          </c:cat>
          <c:val>
            <c:numRef>
              <c:f>'Chart Data'!$B$2:$B$6</c:f>
              <c:numCache>
                <c:formatCode>General</c:formatCode>
                <c:ptCount val="5"/>
                <c:pt idx="0">
                  <c:v>45</c:v>
                </c:pt>
                <c:pt idx="1">
                  <c:v>25</c:v>
                </c:pt>
                <c:pt idx="2">
                  <c:v>15</c:v>
                </c:pt>
                <c:pt idx="3">
                  <c:v>10</c:v>
                </c:pt>
                <c:pt idx="4">
                  <c:v>5</c:v>
                </c:pt>
              </c:numCache>
            </c:numRef>
          </c:val>
        </c:ser>
        <c:dLbls>
          <c:txPr>
            <a:bodyPr xmlns:a="http://schemas.openxmlformats.org/drawingml/2006/main" anchorCtr="1"/>
            <a:lstStyle xmlns:a="http://schemas.openxmlformats.org/drawingml/2006/main"/>
            <a:p xmlns:a="http://schemas.openxmlformats.org/drawingml/2006/main">
              <a:pPr>
                <a:defRPr>
                  <a:latin typeface="Helvetica Neue"/>
                  <a:ea typeface="Helvetica Neue"/>
                  <a:cs typeface="Helvetica Neue"/>
                </a:defRPr>
              </a:pPr>
            </a:p>
          </c:txPr>
          <c:dLblPos val="outEnd"/>
          <c:showLegendKey val="0"/>
          <c:showVal val="1"/>
          <c:showCatName val="0"/>
          <c:showSerName val="0"/>
          <c:showPercent val="0"/>
          <c:showBubbleSize val="0"/>
          <c:showLeaderLines val="0"/>
        </c:dLbls>
        <c:axId val="48650112"/>
        <c:axId val="48672768"/>
      </c:barChart>
      <c:catAx>
        <c:axId val="48650112"/>
        <c:scaling>
          <c:orientation val="minMax"/>
        </c:scaling>
        <c:delete val="0"/>
        <c:axPos val="l"/>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latin typeface="Helvetica Neue"/>
                <a:ea typeface="Helvetica Neue"/>
                <a:cs typeface="Helvetica Neue"/>
              </a:defRPr>
            </a:pPr>
          </a:p>
        </c:txPr>
        <c:crossAx val="48672768"/>
      </c:catAx>
      <c:valAx>
        <c:axId val="48672768"/>
        <c:scaling>
          <c:orientation val="minMax"/>
        </c:scaling>
        <c:delete val="1"/>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latin typeface="Helvetica Neue"/>
                <a:ea typeface="Helvetica Neue"/>
                <a:cs typeface="Helvetica Neue"/>
              </a:defRPr>
            </a:pPr>
          </a:p>
        </c:txPr>
        <c:crossAx val="48650112"/>
        <c:crossBetween val="between"/>
      </c:valAx>
    </c:plotArea>
    <c:plotVisOnly val="1"/>
  </c:chart>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594E57F-9A41-404F-9F5D-3399F8BC0769}"/>
              </a:ext>
            </a:extLst>
          </p:cNvPr>
          <p:cNvSpPr>
            <a:spLocks xmlns:a="http://schemas.openxmlformats.org/drawingml/2006/main" noGrp="1"/>
          </p:cNvSpPr>
          <p:nvPr/>
        </p:nvSpPr>
        <p:spPr>
          <a:xfrm xmlns:a="http://schemas.openxmlformats.org/drawingml/2006/main">
            <a:off x="571500" y="428625"/>
            <a:ext cx="10858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000" b="1">
                <a:solidFill>
                  <a:srgbClr val="183C3B"/>
                </a:solidFill>
                <a:latin typeface="Helvetica Neue"/>
                <a:ea typeface="Helvetica Neue"/>
                <a:cs typeface="Helvetica Neue"/>
              </a:defRPr>
            </a:pPr>
            <a:r>
              <a:rPr sz="3000" b="1">
                <a:solidFill>
                  <a:srgbClr val="183C3B"/>
                </a:solidFill>
                <a:latin typeface="Helvetica Neue"/>
                <a:ea typeface="Helvetica Neue"/>
                <a:cs typeface="Helvetica Neue"/>
              </a:rPr>
              <a:t>JobCompass intelligent job search</a:t>
            </a:r>
          </a:p>
        </p:txBody>
      </p:sp>
      <p:sp>
        <p:nvSpPr>
          <p:cNvPr id="2" name="">
            <a:extLst xmlns:a="http://schemas.openxmlformats.org/drawingml/2006/main">
              <a:ext uri="{FF2B5EF4-FFF2-40B4-BE49-F238E27FC236}">
                <a16:creationId xmlns:a16="http://schemas.microsoft.com/office/drawing/2014/main" id="{05B41CF7-CB0E-4B92-9063-9A8DC6600F38}"/>
              </a:ext>
            </a:extLst>
          </p:cNvPr>
          <p:cNvSpPr>
            <a:spLocks xmlns:a="http://schemas.openxmlformats.org/drawingml/2006/main" noGrp="1"/>
          </p:cNvSpPr>
          <p:nvPr/>
        </p:nvSpPr>
        <p:spPr>
          <a:xfrm xmlns:a="http://schemas.openxmlformats.org/drawingml/2006/main">
            <a:off x="571500" y="6353175"/>
            <a:ext cx="952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6C7D82"/>
                </a:solidFill>
                <a:latin typeface="Helvetica Neue"/>
                <a:ea typeface="Helvetica Neue"/>
                <a:cs typeface="Helvetica Neue"/>
              </a:defRPr>
            </a:pPr>
            <a:r>
              <a:rPr sz="1050" b="0">
                <a:solidFill>
                  <a:srgbClr val="6C7D82"/>
                </a:solidFill>
                <a:latin typeface="Helvetica Neue"/>
                <a:ea typeface="Helvetica Neue"/>
                <a:cs typeface="Helvetica Neue"/>
              </a:rPr>
              <a:t>Group 11    INT6181    1 / 5</a:t>
            </a:r>
          </a:p>
        </p:txBody>
      </p:sp>
      <p:sp>
        <p:nvSpPr>
          <p:cNvPr id="3" name="">
            <a:extLst xmlns:a="http://schemas.openxmlformats.org/drawingml/2006/main">
              <a:ext uri="{FF2B5EF4-FFF2-40B4-BE49-F238E27FC236}">
                <a16:creationId xmlns:a16="http://schemas.microsoft.com/office/drawing/2014/main" id="{BD10EE26-1B8A-4A61-B7B6-13EFC5817FDC}"/>
              </a:ext>
            </a:extLst>
          </p:cNvPr>
          <p:cNvSpPr>
            <a:spLocks xmlns:a="http://schemas.openxmlformats.org/drawingml/2006/main" noGrp="1"/>
          </p:cNvSpPr>
          <p:nvPr/>
        </p:nvSpPr>
        <p:spPr>
          <a:xfrm xmlns:a="http://schemas.openxmlformats.org/drawingml/2006/main">
            <a:off x="571500" y="1104900"/>
            <a:ext cx="1047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500" b="0">
                <a:solidFill>
                  <a:srgbClr val="6C7D82"/>
                </a:solidFill>
                <a:latin typeface="Helvetica Neue"/>
                <a:ea typeface="Helvetica Neue"/>
                <a:cs typeface="Helvetica Neue"/>
              </a:defRPr>
            </a:pPr>
            <a:r>
              <a:rPr sz="1500" b="0">
                <a:solidFill>
                  <a:srgbClr val="6C7D82"/>
                </a:solidFill>
                <a:latin typeface="Helvetica Neue"/>
                <a:ea typeface="Helvetica Neue"/>
                <a:cs typeface="Helvetica Neue"/>
              </a:rPr>
              <a:t>OU JUNHANG, ZHANG XIQIAN, JIANG YIFAN, CAI SHANGHENG, GUO ZHENGKUN</a:t>
            </a:r>
          </a:p>
        </p:txBody>
      </p:sp>
      <p:sp>
        <p:nvSpPr>
          <p:cNvPr id="4" name="">
            <a:extLst xmlns:a="http://schemas.openxmlformats.org/drawingml/2006/main">
              <a:ext uri="{FF2B5EF4-FFF2-40B4-BE49-F238E27FC236}">
                <a16:creationId xmlns:a16="http://schemas.microsoft.com/office/drawing/2014/main" id="{6BEA1817-BD7F-4C23-A2B4-A834ED77034F}"/>
              </a:ext>
            </a:extLst>
          </p:cNvPr>
          <p:cNvSpPr>
            <a:spLocks xmlns:a="http://schemas.openxmlformats.org/drawingml/2006/main" noGrp="1"/>
          </p:cNvSpPr>
          <p:nvPr/>
        </p:nvSpPr>
        <p:spPr>
          <a:xfrm xmlns:a="http://schemas.openxmlformats.org/drawingml/2006/main">
            <a:off x="571500" y="2066925"/>
            <a:ext cx="3810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025" b="1">
                <a:solidFill>
                  <a:srgbClr val="183C3B"/>
                </a:solidFill>
                <a:latin typeface="Helvetica Neue"/>
                <a:ea typeface="Helvetica Neue"/>
                <a:cs typeface="Helvetica Neue"/>
              </a:defRPr>
            </a:pPr>
            <a:r>
              <a:rPr sz="2025" b="1">
                <a:solidFill>
                  <a:srgbClr val="183C3B"/>
                </a:solidFill>
                <a:latin typeface="Helvetica Neue"/>
                <a:ea typeface="Helvetica Neue"/>
                <a:cs typeface="Helvetica Neue"/>
              </a:rPr>
              <a:t>The problem</a:t>
            </a:r>
          </a:p>
        </p:txBody>
      </p:sp>
      <p:sp>
        <p:nvSpPr>
          <p:cNvPr id="5" name="">
            <a:extLst xmlns:a="http://schemas.openxmlformats.org/drawingml/2006/main">
              <a:ext uri="{FF2B5EF4-FFF2-40B4-BE49-F238E27FC236}">
                <a16:creationId xmlns:a16="http://schemas.microsoft.com/office/drawing/2014/main" id="{627B34C5-B923-4260-A1DA-253821F573C2}"/>
              </a:ext>
            </a:extLst>
          </p:cNvPr>
          <p:cNvSpPr>
            <a:spLocks xmlns:a="http://schemas.openxmlformats.org/drawingml/2006/main" noGrp="1"/>
          </p:cNvSpPr>
          <p:nvPr/>
        </p:nvSpPr>
        <p:spPr>
          <a:xfrm xmlns:a="http://schemas.openxmlformats.org/drawingml/2006/main">
            <a:off x="571500" y="2667000"/>
            <a:ext cx="400050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75" b="0">
                <a:solidFill>
                  <a:srgbClr val="183C3B"/>
                </a:solidFill>
                <a:latin typeface="Helvetica Neue"/>
                <a:ea typeface="Helvetica Neue"/>
                <a:cs typeface="Helvetica Neue"/>
              </a:defRPr>
            </a:pPr>
            <a:r>
              <a:rPr sz="1875" b="0">
                <a:solidFill>
                  <a:srgbClr val="183C3B"/>
                </a:solidFill>
                <a:latin typeface="Helvetica Neue"/>
                <a:ea typeface="Helvetica Neue"/>
                <a:cs typeface="Helvetica Neue"/>
              </a:rPr>
              <a:t>Job information is scattered.</a:t>
            </a:r>
          </a:p>
          <a:p xmlns:a="http://schemas.openxmlformats.org/drawingml/2006/main">
            <a:pPr>
              <a:buNone/>
              <a:defRPr sz="1875" b="0">
                <a:solidFill>
                  <a:srgbClr val="183C3B"/>
                </a:solidFill>
                <a:latin typeface="Helvetica Neue"/>
                <a:ea typeface="Helvetica Neue"/>
                <a:cs typeface="Helvetica Neue"/>
              </a:defRPr>
            </a:pPr>
            <a:r>
              <a:rPr sz="1875" b="0">
                <a:solidFill>
                  <a:srgbClr val="183C3B"/>
                </a:solidFill>
                <a:latin typeface="Helvetica Neue"/>
                <a:ea typeface="Helvetica Neue"/>
                <a:cs typeface="Helvetica Neue"/>
              </a:rPr>
              <a:t>Requirements are inconsistent.</a:t>
            </a:r>
          </a:p>
          <a:p xmlns:a="http://schemas.openxmlformats.org/drawingml/2006/main">
            <a:pPr>
              <a:buNone/>
              <a:defRPr sz="1875" b="0">
                <a:solidFill>
                  <a:srgbClr val="183C3B"/>
                </a:solidFill>
                <a:latin typeface="Helvetica Neue"/>
                <a:ea typeface="Helvetica Neue"/>
                <a:cs typeface="Helvetica Neue"/>
              </a:defRPr>
            </a:pPr>
            <a:r>
              <a:rPr sz="1875" b="0">
                <a:solidFill>
                  <a:srgbClr val="183C3B"/>
                </a:solidFill>
                <a:latin typeface="Helvetica Neue"/>
                <a:ea typeface="Helvetica Neue"/>
                <a:cs typeface="Helvetica Neue"/>
              </a:rPr>
              <a:t>Application progress gets lost.</a:t>
            </a:r>
          </a:p>
        </p:txBody>
      </p:sp>
      <p:sp>
        <p:nvSpPr>
          <p:cNvPr id="6" name="">
            <a:extLst xmlns:a="http://schemas.openxmlformats.org/drawingml/2006/main">
              <a:ext uri="{FF2B5EF4-FFF2-40B4-BE49-F238E27FC236}">
                <a16:creationId xmlns:a16="http://schemas.microsoft.com/office/drawing/2014/main" id="{6332FE3A-6632-41FE-9F20-AD77C49B2B4F}"/>
              </a:ext>
            </a:extLst>
          </p:cNvPr>
          <p:cNvSpPr>
            <a:spLocks xmlns:a="http://schemas.openxmlformats.org/drawingml/2006/main" noGrp="1"/>
          </p:cNvSpPr>
          <p:nvPr/>
        </p:nvSpPr>
        <p:spPr>
          <a:xfrm xmlns:a="http://schemas.openxmlformats.org/drawingml/2006/main">
            <a:off x="571500" y="4429125"/>
            <a:ext cx="3714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025" b="1">
                <a:solidFill>
                  <a:srgbClr val="183C3B"/>
                </a:solidFill>
                <a:latin typeface="Helvetica Neue"/>
                <a:ea typeface="Helvetica Neue"/>
                <a:cs typeface="Helvetica Neue"/>
              </a:defRPr>
            </a:pPr>
            <a:r>
              <a:rPr sz="2025" b="1">
                <a:solidFill>
                  <a:srgbClr val="183C3B"/>
                </a:solidFill>
                <a:latin typeface="Helvetica Neue"/>
                <a:ea typeface="Helvetica Neue"/>
                <a:cs typeface="Helvetica Neue"/>
              </a:rPr>
              <a:t>The application</a:t>
            </a:r>
          </a:p>
        </p:txBody>
      </p:sp>
      <p:sp>
        <p:nvSpPr>
          <p:cNvPr id="7" name="">
            <a:extLst xmlns:a="http://schemas.openxmlformats.org/drawingml/2006/main">
              <a:ext uri="{FF2B5EF4-FFF2-40B4-BE49-F238E27FC236}">
                <a16:creationId xmlns:a16="http://schemas.microsoft.com/office/drawing/2014/main" id="{9739D395-C7BA-4642-A8B2-2BAB1B3CF475}"/>
              </a:ext>
            </a:extLst>
          </p:cNvPr>
          <p:cNvSpPr>
            <a:spLocks xmlns:a="http://schemas.openxmlformats.org/drawingml/2006/main" noGrp="1"/>
          </p:cNvSpPr>
          <p:nvPr/>
        </p:nvSpPr>
        <p:spPr>
          <a:xfrm xmlns:a="http://schemas.openxmlformats.org/drawingml/2006/main">
            <a:off x="571500" y="4933950"/>
            <a:ext cx="39052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0">
                <a:solidFill>
                  <a:srgbClr val="183C3B"/>
                </a:solidFill>
                <a:latin typeface="Helvetica Neue"/>
                <a:ea typeface="Helvetica Neue"/>
                <a:cs typeface="Helvetica Neue"/>
              </a:defRPr>
            </a:pPr>
            <a:r>
              <a:rPr sz="1725" b="0">
                <a:solidFill>
                  <a:srgbClr val="183C3B"/>
                </a:solidFill>
                <a:latin typeface="Helvetica Neue"/>
                <a:ea typeface="Helvetica Neue"/>
                <a:cs typeface="Helvetica Neue"/>
              </a:rPr>
              <a:t>Start main.py and open
http://127.0.0.1:8765/
Import, compare and track jobs.</a:t>
            </a:r>
          </a:p>
        </p:txBody>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aff0a9d60cba4a96"/>
          <a:stretch xmlns:a="http://schemas.openxmlformats.org/drawingml/2006/main"/>
        </p:blipFill>
        <p:spPr>
          <a:xfrm xmlns:a="http://schemas.openxmlformats.org/drawingml/2006/main">
            <a:off x="4954058" y="2047875"/>
            <a:ext cx="6570133" cy="3695700"/>
          </a:xfrm>
          <a:prstGeom xmlns:a="http://schemas.openxmlformats.org/drawingml/2006/main" prst="rect">
            <a:avLst/>
          </a:prstGeom>
        </p:spPr>
      </p:pic>
    </p:spTree>
    <p:extLst>
      <p:ext uri="{BB962C8B-B14F-4D97-AF65-F5344CB8AC3E}">
        <p14:creationId xmlns:p14="http://schemas.microsoft.com/office/powerpoint/2010/main" val="93187495"/>
      </p:ext>
    </p:extLst>
  </p:cSld>
</p:sld>
</file>

<file path=ppt/slides/slide2.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BB0AF076-DC02-498E-97AF-5596439D8AF0}"/>
              </a:ext>
            </a:extLst>
          </p:cNvPr>
          <p:cNvSpPr>
            <a:spLocks xmlns:a="http://schemas.openxmlformats.org/drawingml/2006/main" noGrp="1"/>
          </p:cNvSpPr>
          <p:nvPr/>
        </p:nvSpPr>
        <p:spPr>
          <a:xfrm xmlns:a="http://schemas.openxmlformats.org/drawingml/2006/main">
            <a:off x="571500" y="428625"/>
            <a:ext cx="10858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000" b="1">
                <a:solidFill>
                  <a:srgbClr val="183C3B"/>
                </a:solidFill>
                <a:latin typeface="Helvetica Neue"/>
                <a:ea typeface="Helvetica Neue"/>
                <a:cs typeface="Helvetica Neue"/>
              </a:defRPr>
            </a:pPr>
            <a:r>
              <a:rPr sz="3000" b="1">
                <a:solidFill>
                  <a:srgbClr val="183C3B"/>
                </a:solidFill>
                <a:latin typeface="Helvetica Neue"/>
                <a:ea typeface="Helvetica Neue"/>
                <a:cs typeface="Helvetica Neue"/>
              </a:rPr>
              <a:t>Python architecture and responsibilities</a:t>
            </a:r>
          </a:p>
        </p:txBody>
      </p:sp>
      <p:sp>
        <p:nvSpPr>
          <p:cNvPr id="2" name="">
            <a:extLst xmlns:a="http://schemas.openxmlformats.org/drawingml/2006/main">
              <a:ext uri="{FF2B5EF4-FFF2-40B4-BE49-F238E27FC236}">
                <a16:creationId xmlns:a16="http://schemas.microsoft.com/office/drawing/2014/main" id="{73BE0E78-1791-4BBF-98CA-2B1EED412B2A}"/>
              </a:ext>
            </a:extLst>
          </p:cNvPr>
          <p:cNvSpPr>
            <a:spLocks xmlns:a="http://schemas.openxmlformats.org/drawingml/2006/main" noGrp="1"/>
          </p:cNvSpPr>
          <p:nvPr/>
        </p:nvSpPr>
        <p:spPr>
          <a:xfrm xmlns:a="http://schemas.openxmlformats.org/drawingml/2006/main">
            <a:off x="571500" y="6353175"/>
            <a:ext cx="952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6C7D82"/>
                </a:solidFill>
                <a:latin typeface="Helvetica Neue"/>
                <a:ea typeface="Helvetica Neue"/>
                <a:cs typeface="Helvetica Neue"/>
              </a:defRPr>
            </a:pPr>
            <a:r>
              <a:rPr sz="1050" b="0">
                <a:solidFill>
                  <a:srgbClr val="6C7D82"/>
                </a:solidFill>
                <a:latin typeface="Helvetica Neue"/>
                <a:ea typeface="Helvetica Neue"/>
                <a:cs typeface="Helvetica Neue"/>
              </a:rPr>
              <a:t>Group 11    INT6181    2 / 5</a:t>
            </a:r>
          </a:p>
        </p:txBody>
      </p:sp>
      <p:sp>
        <p:nvSpPr>
          <p:cNvPr id="3" name="">
            <a:extLst xmlns:a="http://schemas.openxmlformats.org/drawingml/2006/main">
              <a:ext uri="{FF2B5EF4-FFF2-40B4-BE49-F238E27FC236}">
                <a16:creationId xmlns:a16="http://schemas.microsoft.com/office/drawing/2014/main" id="{C534B481-1FCB-4478-A3D6-59469B60DE0F}"/>
              </a:ext>
            </a:extLst>
          </p:cNvPr>
          <p:cNvSpPr>
            <a:spLocks xmlns:a="http://schemas.openxmlformats.org/drawingml/2006/main" noGrp="1"/>
          </p:cNvSpPr>
          <p:nvPr/>
        </p:nvSpPr>
        <p:spPr>
          <a:xfrm xmlns:a="http://schemas.openxmlformats.org/drawingml/2006/main">
            <a:off x="571500" y="1114425"/>
            <a:ext cx="1047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950" b="0">
                <a:solidFill>
                  <a:srgbClr val="6C7D82"/>
                </a:solidFill>
                <a:latin typeface="Helvetica Neue"/>
                <a:ea typeface="Helvetica Neue"/>
                <a:cs typeface="Helvetica Neue"/>
              </a:defRPr>
            </a:pPr>
            <a:r>
              <a:rPr sz="1950" b="0">
                <a:solidFill>
                  <a:srgbClr val="6C7D82"/>
                </a:solidFill>
                <a:latin typeface="Helvetica Neue"/>
                <a:ea typeface="Helvetica Neue"/>
                <a:cs typeface="Helvetica Neue"/>
              </a:rPr>
              <a:t>A modular service layer behind a browser GUI</a:t>
            </a:r>
          </a:p>
        </p:txBody>
      </p:sp>
      <p:graphicFrame>
        <p:nvGraphicFramePr>
          <p:cNvPr id="11" name=""/>
          <p:cNvGraphicFramePr/>
          <p:nvPr/>
        </p:nvGraphicFramePr>
        <p:xfrm>
          <a:off xmlns:a="http://schemas.openxmlformats.org/drawingml/2006/main" x="571500" y="1981200"/>
          <a:ext xmlns:a="http://schemas.openxmlformats.org/drawingml/2006/main" cx="11049000" cy="3562350"/>
        </p:xfrm>
        <a:graphic xmlns:a="http://schemas.openxmlformats.org/drawingml/2006/main">
          <a:graphicData uri="http://schemas.openxmlformats.org/drawingml/2006/table">
            <a:tbl>
              <a:tblPr/>
              <a:tblGrid>
                <a:gridCol w="2381250"/>
                <a:gridCol w="4191000"/>
                <a:gridCol w="4476750"/>
              </a:tblGrid>
              <a:tr h="593725">
                <a:tc>
                  <a:txBody>
                    <a:bodyPr/>
                    <a:lstStyle/>
                    <a:p>
                      <a:r>
                        <a:rPr sz="1575" b="1">
                          <a:solidFill>
                            <a:srgbClr val="FFFFFF"/>
                          </a:solidFill>
                          <a:latin typeface="Helvetica Neue"/>
                          <a:ea typeface="Helvetica Neue"/>
                          <a:cs typeface="Helvetica Neue"/>
                        </a:rPr>
                        <a:t>Module</a:t>
                      </a:r>
                    </a:p>
                  </a:txBody>
                  <a:tcPr marL="91440" marR="91440" marT="45720" marB="45720">
                    <a:solidFill>
                      <a:srgbClr val="183C3B"/>
                    </a:solidFill>
                  </a:tcPr>
                </a:tc>
                <a:tc>
                  <a:txBody>
                    <a:bodyPr/>
                    <a:lstStyle/>
                    <a:p>
                      <a:r>
                        <a:rPr sz="1575" b="1">
                          <a:solidFill>
                            <a:srgbClr val="FFFFFF"/>
                          </a:solidFill>
                          <a:latin typeface="Helvetica Neue"/>
                          <a:ea typeface="Helvetica Neue"/>
                          <a:cs typeface="Helvetica Neue"/>
                        </a:rPr>
                        <a:t>Responsibility</a:t>
                      </a:r>
                    </a:p>
                  </a:txBody>
                  <a:tcPr marL="91440" marR="91440" marT="45720" marB="45720">
                    <a:solidFill>
                      <a:srgbClr val="183C3B"/>
                    </a:solidFill>
                  </a:tcPr>
                </a:tc>
                <a:tc>
                  <a:txBody>
                    <a:bodyPr/>
                    <a:lstStyle/>
                    <a:p>
                      <a:r>
                        <a:rPr sz="1575" b="1">
                          <a:solidFill>
                            <a:srgbClr val="FFFFFF"/>
                          </a:solidFill>
                          <a:latin typeface="Helvetica Neue"/>
                          <a:ea typeface="Helvetica Neue"/>
                          <a:cs typeface="Helvetica Neue"/>
                        </a:rPr>
                        <a:t>Python techniques</a:t>
                      </a:r>
                    </a:p>
                  </a:txBody>
                  <a:tcPr marL="91440" marR="91440" marT="45720" marB="45720">
                    <a:solidFill>
                      <a:srgbClr val="183C3B"/>
                    </a:solidFill>
                  </a:tcPr>
                </a:tc>
              </a:tr>
              <a:tr h="593725">
                <a:tc>
                  <a:txBody>
                    <a:bodyPr/>
                    <a:lstStyle/>
                    <a:p>
                      <a:r>
                        <a:rPr sz="1575" b="0">
                          <a:solidFill>
                            <a:srgbClr val="183C3B"/>
                          </a:solidFill>
                          <a:latin typeface="Helvetica Neue"/>
                          <a:ea typeface="Helvetica Neue"/>
                          <a:cs typeface="Helvetica Neue"/>
                        </a:rPr>
                        <a:t>resume.py</a:t>
                      </a:r>
                    </a:p>
                  </a:txBody>
                  <a:tcPr marL="91440" marR="91440" marT="45720" marB="45720">
                    <a:solidFill>
                      <a:srgbClr val="FFFFFF"/>
                    </a:solidFill>
                  </a:tcPr>
                </a:tc>
                <a:tc>
                  <a:txBody>
                    <a:bodyPr/>
                    <a:lstStyle/>
                    <a:p>
                      <a:r>
                        <a:rPr sz="1575" b="0">
                          <a:solidFill>
                            <a:srgbClr val="183C3B"/>
                          </a:solidFill>
                          <a:latin typeface="Helvetica Neue"/>
                          <a:ea typeface="Helvetica Neue"/>
                          <a:cs typeface="Helvetica Neue"/>
                        </a:rPr>
                        <a:t>File extraction and skill evidence</a:t>
                      </a:r>
                    </a:p>
                  </a:txBody>
                  <a:tcPr marL="91440" marR="91440" marT="45720" marB="45720">
                    <a:solidFill>
                      <a:srgbClr val="FFFFFF"/>
                    </a:solidFill>
                  </a:tcPr>
                </a:tc>
                <a:tc>
                  <a:txBody>
                    <a:bodyPr/>
                    <a:lstStyle/>
                    <a:p>
                      <a:r>
                        <a:rPr sz="1575" b="0">
                          <a:solidFill>
                            <a:srgbClr val="183C3B"/>
                          </a:solidFill>
                          <a:latin typeface="Helvetica Neue"/>
                          <a:ea typeface="Helvetica Neue"/>
                          <a:cs typeface="Helvetica Neue"/>
                        </a:rPr>
                        <a:t>Regex, ZIP, XML, optional PDF</a:t>
                      </a:r>
                    </a:p>
                  </a:txBody>
                  <a:tcPr marL="91440" marR="91440" marT="45720" marB="45720">
                    <a:solidFill>
                      <a:srgbClr val="FFFFFF"/>
                    </a:solidFill>
                  </a:tcPr>
                </a:tc>
              </a:tr>
              <a:tr h="593725">
                <a:tc>
                  <a:txBody>
                    <a:bodyPr/>
                    <a:lstStyle/>
                    <a:p>
                      <a:r>
                        <a:rPr sz="1575" b="0">
                          <a:solidFill>
                            <a:srgbClr val="183C3B"/>
                          </a:solidFill>
                          <a:latin typeface="Helvetica Neue"/>
                          <a:ea typeface="Helvetica Neue"/>
                          <a:cs typeface="Helvetica Neue"/>
                        </a:rPr>
                        <a:t>sources.py</a:t>
                      </a:r>
                    </a:p>
                  </a:txBody>
                  <a:tcPr marL="91440" marR="91440" marT="45720" marB="45720">
                    <a:solidFill>
                      <a:srgbClr val="EEF3F0"/>
                    </a:solidFill>
                  </a:tcPr>
                </a:tc>
                <a:tc>
                  <a:txBody>
                    <a:bodyPr/>
                    <a:lstStyle/>
                    <a:p>
                      <a:r>
                        <a:rPr sz="1575" b="0">
                          <a:solidFill>
                            <a:srgbClr val="183C3B"/>
                          </a:solidFill>
                          <a:latin typeface="Helvetica Neue"/>
                          <a:ea typeface="Helvetica Neue"/>
                          <a:cs typeface="Helvetica Neue"/>
                        </a:rPr>
                        <a:t>Public API and local imports</a:t>
                      </a:r>
                    </a:p>
                  </a:txBody>
                  <a:tcPr marL="91440" marR="91440" marT="45720" marB="45720">
                    <a:solidFill>
                      <a:srgbClr val="EEF3F0"/>
                    </a:solidFill>
                  </a:tcPr>
                </a:tc>
                <a:tc>
                  <a:txBody>
                    <a:bodyPr/>
                    <a:lstStyle/>
                    <a:p>
                      <a:r>
                        <a:rPr sz="1575" b="0">
                          <a:solidFill>
                            <a:srgbClr val="183C3B"/>
                          </a:solidFill>
                          <a:latin typeface="Helvetica Neue"/>
                          <a:ea typeface="Helvetica Neue"/>
                          <a:cs typeface="Helvetica Neue"/>
                        </a:rPr>
                        <a:t>HTTP, JSON, CSV, HTMLParser</a:t>
                      </a:r>
                    </a:p>
                  </a:txBody>
                  <a:tcPr marL="91440" marR="91440" marT="45720" marB="45720">
                    <a:solidFill>
                      <a:srgbClr val="EEF3F0"/>
                    </a:solidFill>
                  </a:tcPr>
                </a:tc>
              </a:tr>
              <a:tr h="593725">
                <a:tc>
                  <a:txBody>
                    <a:bodyPr/>
                    <a:lstStyle/>
                    <a:p>
                      <a:r>
                        <a:rPr sz="1575" b="0">
                          <a:solidFill>
                            <a:srgbClr val="183C3B"/>
                          </a:solidFill>
                          <a:latin typeface="Helvetica Neue"/>
                          <a:ea typeface="Helvetica Neue"/>
                          <a:cs typeface="Helvetica Neue"/>
                        </a:rPr>
                        <a:t>matching.py</a:t>
                      </a:r>
                    </a:p>
                  </a:txBody>
                  <a:tcPr marL="91440" marR="91440" marT="45720" marB="45720">
                    <a:solidFill>
                      <a:srgbClr val="FFFFFF"/>
                    </a:solidFill>
                  </a:tcPr>
                </a:tc>
                <a:tc>
                  <a:txBody>
                    <a:bodyPr/>
                    <a:lstStyle/>
                    <a:p>
                      <a:r>
                        <a:rPr sz="1575" b="0">
                          <a:solidFill>
                            <a:srgbClr val="183C3B"/>
                          </a:solidFill>
                          <a:latin typeface="Helvetica Neue"/>
                          <a:ea typeface="Helvetica Neue"/>
                          <a:cs typeface="Helvetica Neue"/>
                        </a:rPr>
                        <a:t>Deterministic ranking</a:t>
                      </a:r>
                    </a:p>
                  </a:txBody>
                  <a:tcPr marL="91440" marR="91440" marT="45720" marB="45720">
                    <a:solidFill>
                      <a:srgbClr val="FFFFFF"/>
                    </a:solidFill>
                  </a:tcPr>
                </a:tc>
                <a:tc>
                  <a:txBody>
                    <a:bodyPr/>
                    <a:lstStyle/>
                    <a:p>
                      <a:r>
                        <a:rPr sz="1575" b="0">
                          <a:solidFill>
                            <a:srgbClr val="183C3B"/>
                          </a:solidFill>
                          <a:latin typeface="Helvetica Neue"/>
                          <a:ea typeface="Helvetica Neue"/>
                          <a:cs typeface="Helvetica Neue"/>
                        </a:rPr>
                        <a:t>Counters, TF-IDF, weighted F1</a:t>
                      </a:r>
                    </a:p>
                  </a:txBody>
                  <a:tcPr marL="91440" marR="91440" marT="45720" marB="45720">
                    <a:solidFill>
                      <a:srgbClr val="FFFFFF"/>
                    </a:solidFill>
                  </a:tcPr>
                </a:tc>
              </a:tr>
              <a:tr h="593725">
                <a:tc>
                  <a:txBody>
                    <a:bodyPr/>
                    <a:lstStyle/>
                    <a:p>
                      <a:r>
                        <a:rPr sz="1575" b="0">
                          <a:solidFill>
                            <a:srgbClr val="183C3B"/>
                          </a:solidFill>
                          <a:latin typeface="Helvetica Neue"/>
                          <a:ea typeface="Helvetica Neue"/>
                          <a:cs typeface="Helvetica Neue"/>
                        </a:rPr>
                        <a:t>storage.py</a:t>
                      </a:r>
                    </a:p>
                  </a:txBody>
                  <a:tcPr marL="91440" marR="91440" marT="45720" marB="45720">
                    <a:solidFill>
                      <a:srgbClr val="EEF3F0"/>
                    </a:solidFill>
                  </a:tcPr>
                </a:tc>
                <a:tc>
                  <a:txBody>
                    <a:bodyPr/>
                    <a:lstStyle/>
                    <a:p>
                      <a:r>
                        <a:rPr sz="1575" b="0">
                          <a:solidFill>
                            <a:srgbClr val="183C3B"/>
                          </a:solidFill>
                          <a:latin typeface="Helvetica Neue"/>
                          <a:ea typeface="Helvetica Neue"/>
                          <a:cs typeface="Helvetica Neue"/>
                        </a:rPr>
                        <a:t>Persistent jobs and applications</a:t>
                      </a:r>
                    </a:p>
                  </a:txBody>
                  <a:tcPr marL="91440" marR="91440" marT="45720" marB="45720">
                    <a:solidFill>
                      <a:srgbClr val="EEF3F0"/>
                    </a:solidFill>
                  </a:tcPr>
                </a:tc>
                <a:tc>
                  <a:txBody>
                    <a:bodyPr/>
                    <a:lstStyle/>
                    <a:p>
                      <a:r>
                        <a:rPr sz="1575" b="0">
                          <a:solidFill>
                            <a:srgbClr val="183C3B"/>
                          </a:solidFill>
                          <a:latin typeface="Helvetica Neue"/>
                          <a:ea typeface="Helvetica Neue"/>
                          <a:cs typeface="Helvetica Neue"/>
                        </a:rPr>
                        <a:t>SQLite, transactions, SQL parameters</a:t>
                      </a:r>
                    </a:p>
                  </a:txBody>
                  <a:tcPr marL="91440" marR="91440" marT="45720" marB="45720">
                    <a:solidFill>
                      <a:srgbClr val="EEF3F0"/>
                    </a:solidFill>
                  </a:tcPr>
                </a:tc>
              </a:tr>
              <a:tr h="593725">
                <a:tc>
                  <a:txBody>
                    <a:bodyPr/>
                    <a:lstStyle/>
                    <a:p>
                      <a:r>
                        <a:rPr sz="1575" b="0">
                          <a:solidFill>
                            <a:srgbClr val="183C3B"/>
                          </a:solidFill>
                          <a:latin typeface="Helvetica Neue"/>
                          <a:ea typeface="Helvetica Neue"/>
                          <a:cs typeface="Helvetica Neue"/>
                        </a:rPr>
                        <a:t>server.py + ai.py</a:t>
                      </a:r>
                    </a:p>
                  </a:txBody>
                  <a:tcPr marL="91440" marR="91440" marT="45720" marB="45720">
                    <a:solidFill>
                      <a:srgbClr val="FFFFFF"/>
                    </a:solidFill>
                  </a:tcPr>
                </a:tc>
                <a:tc>
                  <a:txBody>
                    <a:bodyPr/>
                    <a:lstStyle/>
                    <a:p>
                      <a:r>
                        <a:rPr sz="1575" b="0">
                          <a:solidFill>
                            <a:srgbClr val="183C3B"/>
                          </a:solidFill>
                          <a:latin typeface="Helvetica Neue"/>
                          <a:ea typeface="Helvetica Neue"/>
                          <a:cs typeface="Helvetica Neue"/>
                        </a:rPr>
                        <a:t>GUI API and DeepSeek tasks</a:t>
                      </a:r>
                    </a:p>
                  </a:txBody>
                  <a:tcPr marL="91440" marR="91440" marT="45720" marB="45720">
                    <a:solidFill>
                      <a:srgbClr val="FFFFFF"/>
                    </a:solidFill>
                  </a:tcPr>
                </a:tc>
                <a:tc>
                  <a:txBody>
                    <a:bodyPr/>
                    <a:lstStyle/>
                    <a:p>
                      <a:r>
                        <a:rPr sz="1575" b="0">
                          <a:solidFill>
                            <a:srgbClr val="183C3B"/>
                          </a:solidFill>
                          <a:latin typeface="Helvetica Neue"/>
                          <a:ea typeface="Helvetica Neue"/>
                          <a:cs typeface="Helvetica Neue"/>
                        </a:rPr>
                        <a:t>Classes, threads, validation</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A0D2F844-51DC-46B1-A522-F88F48F4CFC1}"/>
              </a:ext>
            </a:extLst>
          </p:cNvPr>
          <p:cNvSpPr>
            <a:spLocks xmlns:a="http://schemas.openxmlformats.org/drawingml/2006/main" noGrp="1"/>
          </p:cNvSpPr>
          <p:nvPr/>
        </p:nvSpPr>
        <p:spPr>
          <a:xfrm xmlns:a="http://schemas.openxmlformats.org/drawingml/2006/main">
            <a:off x="571500" y="5753100"/>
            <a:ext cx="10763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0">
                <a:solidFill>
                  <a:srgbClr val="6C7D82"/>
                </a:solidFill>
                <a:latin typeface="Helvetica Neue"/>
                <a:ea typeface="Helvetica Neue"/>
                <a:cs typeface="Helvetica Neue"/>
              </a:defRPr>
            </a:pPr>
            <a:r>
              <a:rPr sz="1725" b="0">
                <a:solidFill>
                  <a:srgbClr val="6C7D82"/>
                </a:solidFill>
                <a:latin typeface="Helvetica Neue"/>
                <a:ea typeface="Helvetica Neue"/>
                <a:cs typeface="Helvetica Neue"/>
              </a:rPr>
              <a:t>benchmark.py adds ZIP validation, gzip snapshots and reproducible evaluation.</a:t>
            </a:r>
          </a:p>
        </p:txBody>
      </p:sp>
    </p:spTree>
    <p:extLst>
      <p:ext uri="{BB962C8B-B14F-4D97-AF65-F5344CB8AC3E}">
        <p14:creationId xmlns:p14="http://schemas.microsoft.com/office/powerpoint/2010/main" val="1376483639"/>
      </p:ext>
    </p:extLst>
  </p:cSld>
</p:sld>
</file>

<file path=ppt/slides/slide3.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F82AE52-408A-4661-B6EC-662F76620D46}"/>
              </a:ext>
            </a:extLst>
          </p:cNvPr>
          <p:cNvSpPr>
            <a:spLocks xmlns:a="http://schemas.openxmlformats.org/drawingml/2006/main" noGrp="1"/>
          </p:cNvSpPr>
          <p:nvPr/>
        </p:nvSpPr>
        <p:spPr>
          <a:xfrm xmlns:a="http://schemas.openxmlformats.org/drawingml/2006/main">
            <a:off x="571500" y="428625"/>
            <a:ext cx="10858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000" b="1">
                <a:solidFill>
                  <a:srgbClr val="183C3B"/>
                </a:solidFill>
                <a:latin typeface="Helvetica Neue"/>
                <a:ea typeface="Helvetica Neue"/>
                <a:cs typeface="Helvetica Neue"/>
              </a:defRPr>
            </a:pPr>
            <a:r>
              <a:rPr sz="3000" b="1">
                <a:solidFill>
                  <a:srgbClr val="183C3B"/>
                </a:solidFill>
                <a:latin typeface="Helvetica Neue"/>
                <a:ea typeface="Helvetica Neue"/>
                <a:cs typeface="Helvetica Neue"/>
              </a:rPr>
              <a:t>Public sources and JobsDB research data</a:t>
            </a:r>
          </a:p>
        </p:txBody>
      </p:sp>
      <p:sp>
        <p:nvSpPr>
          <p:cNvPr id="2" name="">
            <a:extLst xmlns:a="http://schemas.openxmlformats.org/drawingml/2006/main">
              <a:ext uri="{FF2B5EF4-FFF2-40B4-BE49-F238E27FC236}">
                <a16:creationId xmlns:a16="http://schemas.microsoft.com/office/drawing/2014/main" id="{E6D79307-A7F6-4E6F-BF3F-4778483F575E}"/>
              </a:ext>
            </a:extLst>
          </p:cNvPr>
          <p:cNvSpPr>
            <a:spLocks xmlns:a="http://schemas.openxmlformats.org/drawingml/2006/main" noGrp="1"/>
          </p:cNvSpPr>
          <p:nvPr/>
        </p:nvSpPr>
        <p:spPr>
          <a:xfrm xmlns:a="http://schemas.openxmlformats.org/drawingml/2006/main">
            <a:off x="571500" y="6353175"/>
            <a:ext cx="952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6C7D82"/>
                </a:solidFill>
                <a:latin typeface="Helvetica Neue"/>
                <a:ea typeface="Helvetica Neue"/>
                <a:cs typeface="Helvetica Neue"/>
              </a:defRPr>
            </a:pPr>
            <a:r>
              <a:rPr sz="1050" b="0">
                <a:solidFill>
                  <a:srgbClr val="6C7D82"/>
                </a:solidFill>
                <a:latin typeface="Helvetica Neue"/>
                <a:ea typeface="Helvetica Neue"/>
                <a:cs typeface="Helvetica Neue"/>
              </a:rPr>
              <a:t>Group 11    INT6181    3 / 5</a:t>
            </a:r>
          </a:p>
        </p:txBody>
      </p:sp>
      <p:sp>
        <p:nvSpPr>
          <p:cNvPr id="3" name="">
            <a:extLst xmlns:a="http://schemas.openxmlformats.org/drawingml/2006/main">
              <a:ext uri="{FF2B5EF4-FFF2-40B4-BE49-F238E27FC236}">
                <a16:creationId xmlns:a16="http://schemas.microsoft.com/office/drawing/2014/main" id="{2E3A4A3C-9606-4408-AEA2-E30CB57D74F0}"/>
              </a:ext>
            </a:extLst>
          </p:cNvPr>
          <p:cNvSpPr>
            <a:spLocks xmlns:a="http://schemas.openxmlformats.org/drawingml/2006/main" noGrp="1"/>
          </p:cNvSpPr>
          <p:nvPr/>
        </p:nvSpPr>
        <p:spPr>
          <a:xfrm xmlns:a="http://schemas.openxmlformats.org/drawingml/2006/main">
            <a:off x="571500" y="1143000"/>
            <a:ext cx="1076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100" b="1">
                <a:solidFill>
                  <a:srgbClr val="087D75"/>
                </a:solidFill>
                <a:latin typeface="Helvetica Neue"/>
                <a:ea typeface="Helvetica Neue"/>
                <a:cs typeface="Helvetica Neue"/>
              </a:defRPr>
            </a:pPr>
            <a:r>
              <a:rPr sz="2100" b="1">
                <a:solidFill>
                  <a:srgbClr val="087D75"/>
                </a:solidFill>
                <a:latin typeface="Helvetica Neue"/>
                <a:ea typeface="Helvetica Neue"/>
                <a:cs typeface="Helvetica Neue"/>
              </a:rPr>
              <a:t>JobsDB snapshot dated 28 September 2026</a:t>
            </a:r>
          </a:p>
        </p:txBody>
      </p:sp>
      <p:sp>
        <p:nvSpPr>
          <p:cNvPr id="4" name="">
            <a:extLst xmlns:a="http://schemas.openxmlformats.org/drawingml/2006/main">
              <a:ext uri="{FF2B5EF4-FFF2-40B4-BE49-F238E27FC236}">
                <a16:creationId xmlns:a16="http://schemas.microsoft.com/office/drawing/2014/main" id="{720D4687-6EAB-4E1B-A03D-A7F76870055B}"/>
              </a:ext>
            </a:extLst>
          </p:cNvPr>
          <p:cNvSpPr>
            <a:spLocks xmlns:a="http://schemas.openxmlformats.org/drawingml/2006/main" noGrp="1"/>
          </p:cNvSpPr>
          <p:nvPr/>
        </p:nvSpPr>
        <p:spPr>
          <a:xfrm xmlns:a="http://schemas.openxmlformats.org/drawingml/2006/main">
            <a:off x="571500" y="2143125"/>
            <a:ext cx="4191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400" b="1">
                <a:solidFill>
                  <a:srgbClr val="183C3B"/>
                </a:solidFill>
                <a:latin typeface="Helvetica Neue"/>
                <a:ea typeface="Helvetica Neue"/>
                <a:cs typeface="Helvetica Neue"/>
              </a:defRPr>
            </a:pPr>
            <a:r>
              <a:rPr sz="2400" b="1">
                <a:solidFill>
                  <a:srgbClr val="183C3B"/>
                </a:solidFill>
                <a:latin typeface="Helvetica Neue"/>
                <a:ea typeface="Helvetica Neue"/>
                <a:cs typeface="Helvetica Neue"/>
              </a:rPr>
              <a:t>6,910 validated jobs</a:t>
            </a:r>
          </a:p>
          <a:p xmlns:a="http://schemas.openxmlformats.org/drawingml/2006/main">
            <a:pPr>
              <a:buNone/>
              <a:defRPr sz="2400" b="1">
                <a:solidFill>
                  <a:srgbClr val="183C3B"/>
                </a:solidFill>
                <a:latin typeface="Helvetica Neue"/>
                <a:ea typeface="Helvetica Neue"/>
                <a:cs typeface="Helvetica Neue"/>
              </a:defRPr>
            </a:pPr>
            <a:r>
              <a:rPr sz="2400" b="1">
                <a:solidFill>
                  <a:srgbClr val="183C3B"/>
                </a:solidFill>
                <a:latin typeface="Helvetica Neue"/>
                <a:ea typeface="Helvetica Neue"/>
                <a:cs typeface="Helvetica Neue"/>
              </a:rPr>
              <a:t>6,908 imported jobs</a:t>
            </a:r>
          </a:p>
        </p:txBody>
      </p:sp>
      <p:sp>
        <p:nvSpPr>
          <p:cNvPr id="5" name="">
            <a:extLst xmlns:a="http://schemas.openxmlformats.org/drawingml/2006/main">
              <a:ext uri="{FF2B5EF4-FFF2-40B4-BE49-F238E27FC236}">
                <a16:creationId xmlns:a16="http://schemas.microsoft.com/office/drawing/2014/main" id="{E85B9B4C-3372-4133-8013-A9792D008476}"/>
              </a:ext>
            </a:extLst>
          </p:cNvPr>
          <p:cNvSpPr>
            <a:spLocks xmlns:a="http://schemas.openxmlformats.org/drawingml/2006/main" noGrp="1"/>
          </p:cNvSpPr>
          <p:nvPr/>
        </p:nvSpPr>
        <p:spPr>
          <a:xfrm xmlns:a="http://schemas.openxmlformats.org/drawingml/2006/main">
            <a:off x="571500" y="3524250"/>
            <a:ext cx="409575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0">
                <a:solidFill>
                  <a:srgbClr val="183C3B"/>
                </a:solidFill>
                <a:latin typeface="Helvetica Neue"/>
                <a:ea typeface="Helvetica Neue"/>
                <a:cs typeface="Helvetica Neue"/>
              </a:defRPr>
            </a:pPr>
            <a:r>
              <a:rPr sz="1725" b="0">
                <a:solidFill>
                  <a:srgbClr val="183C3B"/>
                </a:solidFill>
                <a:latin typeface="Helvetica Neue"/>
                <a:ea typeface="Helvetica Neue"/>
                <a:cs typeface="Helvetica Neue"/>
              </a:rPr>
              <a:t>6,939 input records</a:t>
            </a:r>
          </a:p>
          <a:p xmlns:a="http://schemas.openxmlformats.org/drawingml/2006/main">
            <a:pPr>
              <a:buNone/>
              <a:defRPr sz="1725" b="0">
                <a:solidFill>
                  <a:srgbClr val="183C3B"/>
                </a:solidFill>
                <a:latin typeface="Helvetica Neue"/>
                <a:ea typeface="Helvetica Neue"/>
                <a:cs typeface="Helvetica Neue"/>
              </a:defRPr>
            </a:pPr>
            <a:r>
              <a:rPr sz="1725" b="0">
                <a:solidFill>
                  <a:srgbClr val="183C3B"/>
                </a:solidFill>
                <a:latin typeface="Helvetica Neue"/>
                <a:ea typeface="Helvetica Neue"/>
                <a:cs typeface="Helvetica Neue"/>
              </a:rPr>
              <a:t>29 invalid records excluded</a:t>
            </a:r>
          </a:p>
          <a:p xmlns:a="http://schemas.openxmlformats.org/drawingml/2006/main">
            <a:pPr>
              <a:buNone/>
              <a:defRPr sz="1725" b="0">
                <a:solidFill>
                  <a:srgbClr val="183C3B"/>
                </a:solidFill>
                <a:latin typeface="Helvetica Neue"/>
                <a:ea typeface="Helvetica Neue"/>
                <a:cs typeface="Helvetica Neue"/>
              </a:defRPr>
            </a:pPr>
            <a:r>
              <a:rPr sz="1725" b="0">
                <a:solidFill>
                  <a:srgbClr val="183C3B"/>
                </a:solidFill>
                <a:latin typeface="Helvetica Neue"/>
                <a:ea typeface="Helvetica Neue"/>
                <a:cs typeface="Helvetica Neue"/>
              </a:rPr>
              <a:t>2 expired records kept for research</a:t>
            </a:r>
          </a:p>
        </p:txBody>
      </p:sp>
      <p:sp>
        <p:nvSpPr>
          <p:cNvPr id="6" name="">
            <a:extLst xmlns:a="http://schemas.openxmlformats.org/drawingml/2006/main">
              <a:ext uri="{FF2B5EF4-FFF2-40B4-BE49-F238E27FC236}">
                <a16:creationId xmlns:a16="http://schemas.microsoft.com/office/drawing/2014/main" id="{5972F99A-5E0E-4D6A-8624-6C7010702431}"/>
              </a:ext>
            </a:extLst>
          </p:cNvPr>
          <p:cNvSpPr>
            <a:spLocks xmlns:a="http://schemas.openxmlformats.org/drawingml/2006/main" noGrp="1"/>
          </p:cNvSpPr>
          <p:nvPr/>
        </p:nvSpPr>
        <p:spPr>
          <a:xfrm xmlns:a="http://schemas.openxmlformats.org/drawingml/2006/main">
            <a:off x="571500" y="5238750"/>
            <a:ext cx="4095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575" b="0">
                <a:solidFill>
                  <a:srgbClr val="6C7D82"/>
                </a:solidFill>
                <a:latin typeface="Helvetica Neue"/>
                <a:ea typeface="Helvetica Neue"/>
                <a:cs typeface="Helvetica Neue"/>
              </a:defRPr>
            </a:pPr>
            <a:r>
              <a:rPr sz="1575" b="0">
                <a:solidFill>
                  <a:srgbClr val="6C7D82"/>
                </a:solidFill>
                <a:latin typeface="Helvetica Neue"/>
                <a:ea typeface="Helvetica Neue"/>
                <a:cs typeface="Helvetica Neue"/>
              </a:rPr>
              <a:t>Remotive and Arbeitnow provide public API collection. JobsDB uses a supplied historical archive.</a:t>
            </a:r>
          </a:p>
        </p:txBody>
      </p:sp>
      <p:pic>
        <p:nvPicPr>
          <p:cNvPr id="16" name=""/>
          <p:cNvPicPr>
            <a:picLocks xmlns:a="http://schemas.openxmlformats.org/drawingml/2006/main" noChangeAspect="1"/>
          </p:cNvPicPr>
          <p:nvPr/>
        </p:nvPicPr>
        <p:blipFill>
          <a:blip xmlns:r="http://schemas.openxmlformats.org/officeDocument/2006/relationships" xmlns:a="http://schemas.openxmlformats.org/drawingml/2006/main" r:embed="R2d53cc53ba65424e"/>
          <a:stretch xmlns:a="http://schemas.openxmlformats.org/drawingml/2006/main"/>
        </p:blipFill>
        <p:spPr>
          <a:xfrm xmlns:a="http://schemas.openxmlformats.org/drawingml/2006/main">
            <a:off x="4954058" y="2047875"/>
            <a:ext cx="6570133" cy="3695700"/>
          </a:xfrm>
          <a:prstGeom xmlns:a="http://schemas.openxmlformats.org/drawingml/2006/main" prst="rect">
            <a:avLst/>
          </a:prstGeom>
        </p:spPr>
      </p:pic>
    </p:spTree>
    <p:extLst>
      <p:ext uri="{BB962C8B-B14F-4D97-AF65-F5344CB8AC3E}">
        <p14:creationId xmlns:p14="http://schemas.microsoft.com/office/powerpoint/2010/main" val="1160060452"/>
      </p:ext>
    </p:extLst>
  </p:cSld>
</p:sld>
</file>

<file path=ppt/slides/slide4.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8D9C1A2-C07B-48FF-A0BB-6538F614C378}"/>
              </a:ext>
            </a:extLst>
          </p:cNvPr>
          <p:cNvSpPr>
            <a:spLocks xmlns:a="http://schemas.openxmlformats.org/drawingml/2006/main" noGrp="1"/>
          </p:cNvSpPr>
          <p:nvPr/>
        </p:nvSpPr>
        <p:spPr>
          <a:xfrm xmlns:a="http://schemas.openxmlformats.org/drawingml/2006/main">
            <a:off x="571500" y="428625"/>
            <a:ext cx="10858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000" b="1">
                <a:solidFill>
                  <a:srgbClr val="183C3B"/>
                </a:solidFill>
                <a:latin typeface="Helvetica Neue"/>
                <a:ea typeface="Helvetica Neue"/>
                <a:cs typeface="Helvetica Neue"/>
              </a:defRPr>
            </a:pPr>
            <a:r>
              <a:rPr sz="3000" b="1">
                <a:solidFill>
                  <a:srgbClr val="183C3B"/>
                </a:solidFill>
                <a:latin typeface="Helvetica Neue"/>
                <a:ea typeface="Helvetica Neue"/>
                <a:cs typeface="Helvetica Neue"/>
              </a:rPr>
              <a:t>Explainable matching with an AI assistant</a:t>
            </a:r>
          </a:p>
        </p:txBody>
      </p:sp>
      <p:sp>
        <p:nvSpPr>
          <p:cNvPr id="2" name="">
            <a:extLst xmlns:a="http://schemas.openxmlformats.org/drawingml/2006/main">
              <a:ext uri="{FF2B5EF4-FFF2-40B4-BE49-F238E27FC236}">
                <a16:creationId xmlns:a16="http://schemas.microsoft.com/office/drawing/2014/main" id="{57FB6F6F-A86E-4272-8CCC-342561BAB34C}"/>
              </a:ext>
            </a:extLst>
          </p:cNvPr>
          <p:cNvSpPr>
            <a:spLocks xmlns:a="http://schemas.openxmlformats.org/drawingml/2006/main" noGrp="1"/>
          </p:cNvSpPr>
          <p:nvPr/>
        </p:nvSpPr>
        <p:spPr>
          <a:xfrm xmlns:a="http://schemas.openxmlformats.org/drawingml/2006/main">
            <a:off x="571500" y="6353175"/>
            <a:ext cx="952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6C7D82"/>
                </a:solidFill>
                <a:latin typeface="Helvetica Neue"/>
                <a:ea typeface="Helvetica Neue"/>
                <a:cs typeface="Helvetica Neue"/>
              </a:defRPr>
            </a:pPr>
            <a:r>
              <a:rPr sz="1050" b="0">
                <a:solidFill>
                  <a:srgbClr val="6C7D82"/>
                </a:solidFill>
                <a:latin typeface="Helvetica Neue"/>
                <a:ea typeface="Helvetica Neue"/>
                <a:cs typeface="Helvetica Neue"/>
              </a:rPr>
              <a:t>Group 11    INT6181    4 / 5</a:t>
            </a:r>
          </a:p>
        </p:txBody>
      </p:sp>
      <p:sp>
        <p:nvSpPr>
          <p:cNvPr id="3" name="">
            <a:extLst xmlns:a="http://schemas.openxmlformats.org/drawingml/2006/main">
              <a:ext uri="{FF2B5EF4-FFF2-40B4-BE49-F238E27FC236}">
                <a16:creationId xmlns:a16="http://schemas.microsoft.com/office/drawing/2014/main" id="{DCD48F81-49A1-44D8-A571-D385D1F11101}"/>
              </a:ext>
            </a:extLst>
          </p:cNvPr>
          <p:cNvSpPr>
            <a:spLocks xmlns:a="http://schemas.openxmlformats.org/drawingml/2006/main" noGrp="1"/>
          </p:cNvSpPr>
          <p:nvPr/>
        </p:nvSpPr>
        <p:spPr>
          <a:xfrm xmlns:a="http://schemas.openxmlformats.org/drawingml/2006/main">
            <a:off x="571500" y="1123950"/>
            <a:ext cx="1076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950" b="0">
                <a:solidFill>
                  <a:srgbClr val="6C7D82"/>
                </a:solidFill>
                <a:latin typeface="Helvetica Neue"/>
                <a:ea typeface="Helvetica Neue"/>
                <a:cs typeface="Helvetica Neue"/>
              </a:defRPr>
            </a:pPr>
            <a:r>
              <a:rPr sz="1950" b="0">
                <a:solidFill>
                  <a:srgbClr val="6C7D82"/>
                </a:solidFill>
                <a:latin typeface="Helvetica Neue"/>
                <a:ea typeface="Helvetica Neue"/>
                <a:cs typeface="Helvetica Neue"/>
              </a:rPr>
              <a:t>A reproducible ranking score, with evidence for each component</a:t>
            </a:r>
          </a:p>
        </p:txBody>
      </p:sp>
      <p:graphicFrame>
        <p:nvGraphicFramePr>
          <p:cNvPr id="14" name="Chart"/>
          <p:cNvGraphicFramePr/>
          <p:nvPr/>
        </p:nvGraphicFramePr>
        <p:xfrm>
          <a:off xmlns:a="http://schemas.openxmlformats.org/drawingml/2006/main" x="523875" y="2047875"/>
          <a:ext xmlns:a="http://schemas.openxmlformats.org/drawingml/2006/main" cx="5715000" cy="3429000"/>
        </p:xfrm>
        <a:graphic xmlns:a="http://schemas.openxmlformats.org/drawingml/2006/main">
          <a:graphicData uri="http://schemas.openxmlformats.org/drawingml/2006/chart">
            <c:chart xmlns:r="http://schemas.openxmlformats.org/officeDocument/2006/relationships" xmlns:c="http://schemas.openxmlformats.org/drawingml/2006/chart" r:id="R019b431b4c944db7"/>
          </a:graphicData>
        </a:graphic>
      </p:graphicFrame>
      <p:sp>
        <p:nvSpPr>
          <p:cNvPr id="5" name="">
            <a:extLst xmlns:a="http://schemas.openxmlformats.org/drawingml/2006/main">
              <a:ext uri="{FF2B5EF4-FFF2-40B4-BE49-F238E27FC236}">
                <a16:creationId xmlns:a16="http://schemas.microsoft.com/office/drawing/2014/main" id="{708964F9-346C-4E07-BEC3-B512D821E7E7}"/>
              </a:ext>
            </a:extLst>
          </p:cNvPr>
          <p:cNvSpPr>
            <a:spLocks xmlns:a="http://schemas.openxmlformats.org/drawingml/2006/main" noGrp="1"/>
          </p:cNvSpPr>
          <p:nvPr/>
        </p:nvSpPr>
        <p:spPr>
          <a:xfrm xmlns:a="http://schemas.openxmlformats.org/drawingml/2006/main">
            <a:off x="6762750" y="2152650"/>
            <a:ext cx="4572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175" b="1">
                <a:solidFill>
                  <a:srgbClr val="183C3B"/>
                </a:solidFill>
                <a:latin typeface="Helvetica Neue"/>
                <a:ea typeface="Helvetica Neue"/>
                <a:cs typeface="Helvetica Neue"/>
              </a:defRPr>
            </a:pPr>
            <a:r>
              <a:rPr sz="2175" b="1">
                <a:solidFill>
                  <a:srgbClr val="183C3B"/>
                </a:solidFill>
                <a:latin typeface="Helvetica Neue"/>
                <a:ea typeface="Helvetica Neue"/>
                <a:cs typeface="Helvetica Neue"/>
              </a:rPr>
              <a:t>Weighted skill F1</a:t>
            </a:r>
          </a:p>
        </p:txBody>
      </p:sp>
      <p:sp>
        <p:nvSpPr>
          <p:cNvPr id="6" name="">
            <a:extLst xmlns:a="http://schemas.openxmlformats.org/drawingml/2006/main">
              <a:ext uri="{FF2B5EF4-FFF2-40B4-BE49-F238E27FC236}">
                <a16:creationId xmlns:a16="http://schemas.microsoft.com/office/drawing/2014/main" id="{AED01E7F-24DF-4846-87EA-D66B08AC74E8}"/>
              </a:ext>
            </a:extLst>
          </p:cNvPr>
          <p:cNvSpPr>
            <a:spLocks xmlns:a="http://schemas.openxmlformats.org/drawingml/2006/main" noGrp="1"/>
          </p:cNvSpPr>
          <p:nvPr/>
        </p:nvSpPr>
        <p:spPr>
          <a:xfrm xmlns:a="http://schemas.openxmlformats.org/drawingml/2006/main">
            <a:off x="6762750" y="2762250"/>
            <a:ext cx="447675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00" b="0">
                <a:solidFill>
                  <a:srgbClr val="183C3B"/>
                </a:solidFill>
                <a:latin typeface="Helvetica Neue"/>
                <a:ea typeface="Helvetica Neue"/>
                <a:cs typeface="Helvetica Neue"/>
              </a:defRPr>
            </a:pPr>
            <a:r>
              <a:rPr sz="1800" b="0">
                <a:solidFill>
                  <a:srgbClr val="183C3B"/>
                </a:solidFill>
                <a:latin typeface="Helvetica Neue"/>
                <a:ea typeface="Helvetica Neue"/>
                <a:cs typeface="Helvetica Neue"/>
              </a:rPr>
              <a:t>Generic skills carry less weight.</a:t>
            </a:r>
          </a:p>
          <a:p xmlns:a="http://schemas.openxmlformats.org/drawingml/2006/main">
            <a:pPr>
              <a:buNone/>
              <a:defRPr sz="1800" b="0">
                <a:solidFill>
                  <a:srgbClr val="183C3B"/>
                </a:solidFill>
                <a:latin typeface="Helvetica Neue"/>
                <a:ea typeface="Helvetica Neue"/>
                <a:cs typeface="Helvetica Neue"/>
              </a:defRPr>
            </a:pPr>
            <a:r>
              <a:rPr sz="1800" b="0">
                <a:solidFill>
                  <a:srgbClr val="183C3B"/>
                </a:solidFill>
                <a:latin typeface="Helvetica Neue"/>
                <a:ea typeface="Helvetica Neue"/>
                <a:cs typeface="Helvetica Neue"/>
              </a:rPr>
              <a:t>Missing conditions reduce coverage.</a:t>
            </a:r>
          </a:p>
          <a:p xmlns:a="http://schemas.openxmlformats.org/drawingml/2006/main">
            <a:pPr>
              <a:buNone/>
              <a:defRPr sz="1800" b="0">
                <a:solidFill>
                  <a:srgbClr val="183C3B"/>
                </a:solidFill>
                <a:latin typeface="Helvetica Neue"/>
                <a:ea typeface="Helvetica Neue"/>
                <a:cs typeface="Helvetica Neue"/>
              </a:defRPr>
            </a:pPr>
            <a:r>
              <a:rPr sz="1800" b="0">
                <a:solidFill>
                  <a:srgbClr val="183C3B"/>
                </a:solidFill>
                <a:latin typeface="Helvetica Neue"/>
                <a:ea typeface="Helvetica Neue"/>
                <a:cs typeface="Helvetica Neue"/>
              </a:rPr>
              <a:t>Remote jobs can restrict location.</a:t>
            </a:r>
          </a:p>
        </p:txBody>
      </p:sp>
      <p:sp>
        <p:nvSpPr>
          <p:cNvPr id="7" name="">
            <a:extLst xmlns:a="http://schemas.openxmlformats.org/drawingml/2006/main">
              <a:ext uri="{FF2B5EF4-FFF2-40B4-BE49-F238E27FC236}">
                <a16:creationId xmlns:a16="http://schemas.microsoft.com/office/drawing/2014/main" id="{849A1B3C-D645-44EE-BA27-45C5E41D7460}"/>
              </a:ext>
            </a:extLst>
          </p:cNvPr>
          <p:cNvSpPr>
            <a:spLocks xmlns:a="http://schemas.openxmlformats.org/drawingml/2006/main" noGrp="1"/>
          </p:cNvSpPr>
          <p:nvPr/>
        </p:nvSpPr>
        <p:spPr>
          <a:xfrm xmlns:a="http://schemas.openxmlformats.org/drawingml/2006/main">
            <a:off x="6762750" y="4686300"/>
            <a:ext cx="42862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00" b="0">
                <a:solidFill>
                  <a:srgbClr val="6C7D82"/>
                </a:solidFill>
                <a:latin typeface="Helvetica Neue"/>
                <a:ea typeface="Helvetica Neue"/>
                <a:cs typeface="Helvetica Neue"/>
              </a:defRPr>
            </a:pPr>
            <a:r>
              <a:rPr sz="1800" b="0">
                <a:solidFill>
                  <a:srgbClr val="6C7D82"/>
                </a:solidFill>
                <a:latin typeface="Helvetica Neue"/>
                <a:ea typeface="Helvetica Neue"/>
                <a:cs typeface="Helvetica Neue"/>
              </a:rPr>
              <a:t>DeepSeek improves explanations and resume wording. It does not set the ranking score.</a:t>
            </a:r>
          </a:p>
        </p:txBody>
      </p:sp>
      <p:sp>
        <p:nvSpPr>
          <p:cNvPr id="8" name="">
            <a:extLst xmlns:a="http://schemas.openxmlformats.org/drawingml/2006/main">
              <a:ext uri="{FF2B5EF4-FFF2-40B4-BE49-F238E27FC236}">
                <a16:creationId xmlns:a16="http://schemas.microsoft.com/office/drawing/2014/main" id="{1EF5F46B-7560-4621-9B39-C677DA4C019F}"/>
              </a:ext>
            </a:extLst>
          </p:cNvPr>
          <p:cNvSpPr>
            <a:spLocks xmlns:a="http://schemas.openxmlformats.org/drawingml/2006/main" noGrp="1"/>
          </p:cNvSpPr>
          <p:nvPr/>
        </p:nvSpPr>
        <p:spPr>
          <a:xfrm xmlns:a="http://schemas.openxmlformats.org/drawingml/2006/main">
            <a:off x="571500" y="5724525"/>
            <a:ext cx="5905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650" b="0">
                <a:solidFill>
                  <a:srgbClr val="6C7D82"/>
                </a:solidFill>
                <a:latin typeface="Helvetica Neue"/>
                <a:ea typeface="Helvetica Neue"/>
                <a:cs typeface="Helvetica Neue"/>
              </a:defRPr>
            </a:pPr>
            <a:r>
              <a:rPr sz="1650" b="0">
                <a:solidFill>
                  <a:srgbClr val="6C7D82"/>
                </a:solidFill>
                <a:latin typeface="Helvetica Neue"/>
                <a:ea typeface="Helvetica Neue"/>
                <a:cs typeface="Helvetica Neue"/>
              </a:rPr>
              <a:t>Ranking scores require human interpretation.</a:t>
            </a:r>
          </a:p>
        </p:txBody>
      </p:sp>
    </p:spTree>
    <p:extLst>
      <p:ext uri="{BB962C8B-B14F-4D97-AF65-F5344CB8AC3E}">
        <p14:creationId xmlns:p14="http://schemas.microsoft.com/office/powerpoint/2010/main" val="395433985"/>
      </p:ext>
    </p:extLst>
  </p:cSld>
</p:sld>
</file>

<file path=ppt/slides/slide5.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5CDFBFA-CCBE-4DC7-AE7F-5CC163F54880}"/>
              </a:ext>
            </a:extLst>
          </p:cNvPr>
          <p:cNvSpPr>
            <a:spLocks xmlns:a="http://schemas.openxmlformats.org/drawingml/2006/main" noGrp="1"/>
          </p:cNvSpPr>
          <p:nvPr/>
        </p:nvSpPr>
        <p:spPr>
          <a:xfrm xmlns:a="http://schemas.openxmlformats.org/drawingml/2006/main">
            <a:off x="571500" y="428625"/>
            <a:ext cx="10858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000" b="1">
                <a:solidFill>
                  <a:srgbClr val="183C3B"/>
                </a:solidFill>
                <a:latin typeface="Helvetica Neue"/>
                <a:ea typeface="Helvetica Neue"/>
                <a:cs typeface="Helvetica Neue"/>
              </a:defRPr>
            </a:pPr>
            <a:r>
              <a:rPr sz="3000" b="1">
                <a:solidFill>
                  <a:srgbClr val="183C3B"/>
                </a:solidFill>
                <a:latin typeface="Helvetica Neue"/>
                <a:ea typeface="Helvetica Neue"/>
                <a:cs typeface="Helvetica Neue"/>
              </a:rPr>
              <a:t>Evaluation, demonstration and limitations</a:t>
            </a:r>
          </a:p>
        </p:txBody>
      </p:sp>
      <p:sp>
        <p:nvSpPr>
          <p:cNvPr id="2" name="">
            <a:extLst xmlns:a="http://schemas.openxmlformats.org/drawingml/2006/main">
              <a:ext uri="{FF2B5EF4-FFF2-40B4-BE49-F238E27FC236}">
                <a16:creationId xmlns:a16="http://schemas.microsoft.com/office/drawing/2014/main" id="{EC3CB490-0BDE-405C-ABEE-74A24AB5E8BA}"/>
              </a:ext>
            </a:extLst>
          </p:cNvPr>
          <p:cNvSpPr>
            <a:spLocks xmlns:a="http://schemas.openxmlformats.org/drawingml/2006/main" noGrp="1"/>
          </p:cNvSpPr>
          <p:nvPr/>
        </p:nvSpPr>
        <p:spPr>
          <a:xfrm xmlns:a="http://schemas.openxmlformats.org/drawingml/2006/main">
            <a:off x="571500" y="6353175"/>
            <a:ext cx="952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6C7D82"/>
                </a:solidFill>
                <a:latin typeface="Helvetica Neue"/>
                <a:ea typeface="Helvetica Neue"/>
                <a:cs typeface="Helvetica Neue"/>
              </a:defRPr>
            </a:pPr>
            <a:r>
              <a:rPr sz="1050" b="0">
                <a:solidFill>
                  <a:srgbClr val="6C7D82"/>
                </a:solidFill>
                <a:latin typeface="Helvetica Neue"/>
                <a:ea typeface="Helvetica Neue"/>
                <a:cs typeface="Helvetica Neue"/>
              </a:rPr>
              <a:t>Group 11    INT6181    5 / 5</a:t>
            </a:r>
          </a:p>
        </p:txBody>
      </p:sp>
      <p:sp>
        <p:nvSpPr>
          <p:cNvPr id="3" name="">
            <a:extLst xmlns:a="http://schemas.openxmlformats.org/drawingml/2006/main">
              <a:ext uri="{FF2B5EF4-FFF2-40B4-BE49-F238E27FC236}">
                <a16:creationId xmlns:a16="http://schemas.microsoft.com/office/drawing/2014/main" id="{EEBBCEB7-717E-4352-9747-BD4F036966FD}"/>
              </a:ext>
            </a:extLst>
          </p:cNvPr>
          <p:cNvSpPr>
            <a:spLocks xmlns:a="http://schemas.openxmlformats.org/drawingml/2006/main" noGrp="1"/>
          </p:cNvSpPr>
          <p:nvPr/>
        </p:nvSpPr>
        <p:spPr>
          <a:xfrm xmlns:a="http://schemas.openxmlformats.org/drawingml/2006/main">
            <a:off x="571500" y="1476375"/>
            <a:ext cx="5905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150" b="1">
                <a:solidFill>
                  <a:srgbClr val="087D75"/>
                </a:solidFill>
                <a:latin typeface="Helvetica Neue"/>
                <a:ea typeface="Helvetica Neue"/>
                <a:cs typeface="Helvetica Neue"/>
              </a:defRPr>
            </a:pPr>
            <a:r>
              <a:rPr sz="3150" b="1">
                <a:solidFill>
                  <a:srgbClr val="087D75"/>
                </a:solidFill>
                <a:latin typeface="Helvetica Neue"/>
                <a:ea typeface="Helvetica Neue"/>
                <a:cs typeface="Helvetica Neue"/>
              </a:rPr>
              <a:t>71 local tests passed</a:t>
            </a:r>
          </a:p>
        </p:txBody>
      </p:sp>
      <p:sp>
        <p:nvSpPr>
          <p:cNvPr id="4" name="">
            <a:extLst xmlns:a="http://schemas.openxmlformats.org/drawingml/2006/main">
              <a:ext uri="{FF2B5EF4-FFF2-40B4-BE49-F238E27FC236}">
                <a16:creationId xmlns:a16="http://schemas.microsoft.com/office/drawing/2014/main" id="{517175A1-ED93-46C0-A576-2AD0BAFBBAB0}"/>
              </a:ext>
            </a:extLst>
          </p:cNvPr>
          <p:cNvSpPr>
            <a:spLocks xmlns:a="http://schemas.openxmlformats.org/drawingml/2006/main" noGrp="1"/>
          </p:cNvSpPr>
          <p:nvPr/>
        </p:nvSpPr>
        <p:spPr>
          <a:xfrm xmlns:a="http://schemas.openxmlformats.org/drawingml/2006/main">
            <a:off x="571500" y="2400300"/>
            <a:ext cx="10858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950" b="0">
                <a:solidFill>
                  <a:srgbClr val="183C3B"/>
                </a:solidFill>
                <a:latin typeface="Helvetica Neue"/>
                <a:ea typeface="Helvetica Neue"/>
                <a:cs typeface="Helvetica Neue"/>
              </a:defRPr>
            </a:pPr>
            <a:r>
              <a:rPr sz="1950" b="0">
                <a:solidFill>
                  <a:srgbClr val="183C3B"/>
                </a:solidFill>
                <a:latin typeface="Helvetica Neue"/>
                <a:ea typeface="Helvetica Neue"/>
                <a:cs typeface="Helvetica Neue"/>
              </a:rPr>
              <a:t>6,910 research jobs ranked in 4.0517 seconds median</a:t>
            </a:r>
          </a:p>
          <a:p xmlns:a="http://schemas.openxmlformats.org/drawingml/2006/main">
            <a:pPr>
              <a:buNone/>
              <a:defRPr sz="1950" b="0">
                <a:solidFill>
                  <a:srgbClr val="183C3B"/>
                </a:solidFill>
                <a:latin typeface="Helvetica Neue"/>
                <a:ea typeface="Helvetica Neue"/>
                <a:cs typeface="Helvetica Neue"/>
              </a:defRPr>
            </a:pPr>
            <a:r>
              <a:rPr sz="1950" b="0">
                <a:solidFill>
                  <a:srgbClr val="183C3B"/>
                </a:solidFill>
                <a:latin typeface="Helvetica Neue"/>
                <a:ea typeface="Helvetica Neue"/>
                <a:cs typeface="Helvetica Neue"/>
              </a:rPr>
              <a:t>Three local runs with a fictional resume</a:t>
            </a:r>
          </a:p>
          <a:p xmlns:a="http://schemas.openxmlformats.org/drawingml/2006/main">
            <a:pPr>
              <a:buNone/>
              <a:defRPr sz="1950" b="0">
                <a:solidFill>
                  <a:srgbClr val="183C3B"/>
                </a:solidFill>
                <a:latin typeface="Helvetica Neue"/>
                <a:ea typeface="Helvetica Neue"/>
                <a:cs typeface="Helvetica Neue"/>
              </a:defRPr>
            </a:pPr>
            <a:r>
              <a:rPr sz="1950" b="0">
                <a:solidFill>
                  <a:srgbClr val="183C3B"/>
                </a:solidFill>
                <a:latin typeface="Helvetica Neue"/>
                <a:ea typeface="Helvetica Neue"/>
                <a:cs typeface="Helvetica Neue"/>
              </a:rPr>
              <a:t>No human relevance labels for the research snapshot</a:t>
            </a:r>
          </a:p>
        </p:txBody>
      </p:sp>
      <p:sp>
        <p:nvSpPr>
          <p:cNvPr id="5" name="">
            <a:extLst xmlns:a="http://schemas.openxmlformats.org/drawingml/2006/main">
              <a:ext uri="{FF2B5EF4-FFF2-40B4-BE49-F238E27FC236}">
                <a16:creationId xmlns:a16="http://schemas.microsoft.com/office/drawing/2014/main" id="{007575C8-1CAE-442B-AE99-FEAAE81345F9}"/>
              </a:ext>
            </a:extLst>
          </p:cNvPr>
          <p:cNvSpPr>
            <a:spLocks xmlns:a="http://schemas.openxmlformats.org/drawingml/2006/main" noGrp="1"/>
          </p:cNvSpPr>
          <p:nvPr/>
        </p:nvSpPr>
        <p:spPr>
          <a:xfrm xmlns:a="http://schemas.openxmlformats.org/drawingml/2006/main">
            <a:off x="571500" y="4210050"/>
            <a:ext cx="4857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100" b="1">
                <a:solidFill>
                  <a:srgbClr val="183C3B"/>
                </a:solidFill>
                <a:latin typeface="Helvetica Neue"/>
                <a:ea typeface="Helvetica Neue"/>
                <a:cs typeface="Helvetica Neue"/>
              </a:defRPr>
            </a:pPr>
            <a:r>
              <a:rPr sz="2100" b="1">
                <a:solidFill>
                  <a:srgbClr val="183C3B"/>
                </a:solidFill>
                <a:latin typeface="Helvetica Neue"/>
                <a:ea typeface="Helvetica Neue"/>
                <a:cs typeface="Helvetica Neue"/>
              </a:rPr>
              <a:t>What the evidence means</a:t>
            </a:r>
          </a:p>
        </p:txBody>
      </p:sp>
      <p:sp>
        <p:nvSpPr>
          <p:cNvPr id="6" name="">
            <a:extLst xmlns:a="http://schemas.openxmlformats.org/drawingml/2006/main">
              <a:ext uri="{FF2B5EF4-FFF2-40B4-BE49-F238E27FC236}">
                <a16:creationId xmlns:a16="http://schemas.microsoft.com/office/drawing/2014/main" id="{30A1A442-2C92-41B5-A72D-0960E146C303}"/>
              </a:ext>
            </a:extLst>
          </p:cNvPr>
          <p:cNvSpPr>
            <a:spLocks xmlns:a="http://schemas.openxmlformats.org/drawingml/2006/main" noGrp="1"/>
          </p:cNvSpPr>
          <p:nvPr/>
        </p:nvSpPr>
        <p:spPr>
          <a:xfrm xmlns:a="http://schemas.openxmlformats.org/drawingml/2006/main">
            <a:off x="571500" y="4810125"/>
            <a:ext cx="5048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0">
                <a:solidFill>
                  <a:srgbClr val="6C7D82"/>
                </a:solidFill>
                <a:latin typeface="Helvetica Neue"/>
                <a:ea typeface="Helvetica Neue"/>
                <a:cs typeface="Helvetica Neue"/>
              </a:defRPr>
            </a:pPr>
            <a:r>
              <a:rPr sz="1725" b="0">
                <a:solidFill>
                  <a:srgbClr val="6C7D82"/>
                </a:solidFill>
                <a:latin typeface="Helvetica Neue"/>
                <a:ea typeface="Helvetica Neue"/>
                <a:cs typeface="Helvetica Neue"/>
              </a:rPr>
              <a:t>Tests check behavior. The benchmark measures runtime. Real-data accuracy remains unmeasured.</a:t>
            </a:r>
          </a:p>
        </p:txBody>
      </p:sp>
      <p:sp>
        <p:nvSpPr>
          <p:cNvPr id="7" name="">
            <a:extLst xmlns:a="http://schemas.openxmlformats.org/drawingml/2006/main">
              <a:ext uri="{FF2B5EF4-FFF2-40B4-BE49-F238E27FC236}">
                <a16:creationId xmlns:a16="http://schemas.microsoft.com/office/drawing/2014/main" id="{70CD3BC9-A1CD-4200-82FA-B101EDBD146F}"/>
              </a:ext>
            </a:extLst>
          </p:cNvPr>
          <p:cNvSpPr>
            <a:spLocks xmlns:a="http://schemas.openxmlformats.org/drawingml/2006/main" noGrp="1"/>
          </p:cNvSpPr>
          <p:nvPr/>
        </p:nvSpPr>
        <p:spPr>
          <a:xfrm xmlns:a="http://schemas.openxmlformats.org/drawingml/2006/main">
            <a:off x="6667500" y="4210050"/>
            <a:ext cx="4857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100" b="1">
                <a:solidFill>
                  <a:srgbClr val="183C3B"/>
                </a:solidFill>
                <a:latin typeface="Helvetica Neue"/>
                <a:ea typeface="Helvetica Neue"/>
                <a:cs typeface="Helvetica Neue"/>
              </a:defRPr>
            </a:pPr>
            <a:r>
              <a:rPr sz="2100" b="1">
                <a:solidFill>
                  <a:srgbClr val="183C3B"/>
                </a:solidFill>
                <a:latin typeface="Helvetica Neue"/>
                <a:ea typeface="Helvetica Neue"/>
                <a:cs typeface="Helvetica Neue"/>
              </a:rPr>
              <a:t>Live demonstration</a:t>
            </a:r>
          </a:p>
        </p:txBody>
      </p:sp>
      <p:sp>
        <p:nvSpPr>
          <p:cNvPr id="8" name="">
            <a:extLst xmlns:a="http://schemas.openxmlformats.org/drawingml/2006/main">
              <a:ext uri="{FF2B5EF4-FFF2-40B4-BE49-F238E27FC236}">
                <a16:creationId xmlns:a16="http://schemas.microsoft.com/office/drawing/2014/main" id="{C255A513-5B2C-4A44-B123-7616A2DFD7F4}"/>
              </a:ext>
            </a:extLst>
          </p:cNvPr>
          <p:cNvSpPr>
            <a:spLocks xmlns:a="http://schemas.openxmlformats.org/drawingml/2006/main" noGrp="1"/>
          </p:cNvSpPr>
          <p:nvPr/>
        </p:nvSpPr>
        <p:spPr>
          <a:xfrm xmlns:a="http://schemas.openxmlformats.org/drawingml/2006/main">
            <a:off x="6667500" y="4810125"/>
            <a:ext cx="4572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0">
                <a:solidFill>
                  <a:srgbClr val="6C7D82"/>
                </a:solidFill>
                <a:latin typeface="Helvetica Neue"/>
                <a:ea typeface="Helvetica Neue"/>
                <a:cs typeface="Helvetica Neue"/>
              </a:defRPr>
            </a:pPr>
            <a:r>
              <a:rPr sz="1725" b="0">
                <a:solidFill>
                  <a:srgbClr val="6C7D82"/>
                </a:solidFill>
                <a:latin typeface="Helvetica Neue"/>
                <a:ea typeface="Helvetica Neue"/>
                <a:cs typeface="Helvetica Neue"/>
              </a:rPr>
              <a:t>Show resume evidence, a score breakdown and the application board. AI assistance is disclosed.</a:t>
            </a:r>
          </a:p>
        </p:txBody>
      </p:sp>
    </p:spTree>
    <p:extLst>
      <p:ext uri="{BB962C8B-B14F-4D97-AF65-F5344CB8AC3E}">
        <p14:creationId xmlns:p14="http://schemas.microsoft.com/office/powerpoint/2010/main" val="171761648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2026-09-30T11:25:44.1940000Z</dcterms:created>
  <dcterms:modified xsi:type="dcterms:W3CDTF">2026-09-30T11:25:44.1940000Z</dcterms:modified>
</coreProperties>
</file>