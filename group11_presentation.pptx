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f76c9291ab24f98" /><Relationship Type="http://schemas.openxmlformats.org/officeDocument/2006/relationships/extended-properties" Target="/docProps/app.xml" Id="Rf5e575a7b8854058" /><Relationship Type="http://schemas.openxmlformats.org/officeDocument/2006/relationships/officeDocument" Target="/ppt/presentation.xml" Id="R8015f3a603a14acb" /></Relationships>
</file>

<file path=ppt/presentation.xml><?xml version="1.0" encoding="utf-8"?>
<p:presentation xmlns:p="http://schemas.openxmlformats.org/presentationml/2006/main">
  <p:sldMasterIdLst>
    <p:sldMasterId xmlns:r="http://schemas.openxmlformats.org/officeDocument/2006/relationships" id="2147483648" r:id="R60fe640133804845"/>
  </p:sldMasterIdLst>
  <p:notesMasterIdLst>
    <p:notesMasterId xmlns:r="http://schemas.openxmlformats.org/officeDocument/2006/relationships" r:id="R2c7f80560a2042f3"/>
  </p:notesMasterIdLst>
  <p:sldIdLst>
    <p:sldId xmlns:r="http://schemas.openxmlformats.org/officeDocument/2006/relationships" id="256" r:id="R9ecca29500de4705"/>
    <p:sldId xmlns:r="http://schemas.openxmlformats.org/officeDocument/2006/relationships" id="257" r:id="R181b4ea6fe534242"/>
    <p:sldId xmlns:r="http://schemas.openxmlformats.org/officeDocument/2006/relationships" id="258" r:id="R93da92512473441a"/>
    <p:sldId xmlns:r="http://schemas.openxmlformats.org/officeDocument/2006/relationships" id="259" r:id="Ra03e880f642c43a7"/>
    <p:sldId xmlns:r="http://schemas.openxmlformats.org/officeDocument/2006/relationships" id="260" r:id="R1fcf81a34d5344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9800cec6f742d8" /><Relationship Type="http://schemas.openxmlformats.org/officeDocument/2006/relationships/slideMaster" Target="/ppt/slideMasters/slideMaster1.xml" Id="R60fe640133804845" /><Relationship Type="http://schemas.openxmlformats.org/officeDocument/2006/relationships/notesMaster" Target="/ppt/notesMasters/notesMaster1.xml" Id="R2c7f80560a2042f3" /><Relationship Type="http://schemas.openxmlformats.org/officeDocument/2006/relationships/presProps" Target="/ppt/presProps.xml" Id="R22d36ac40d574fff" /><Relationship Type="http://schemas.openxmlformats.org/officeDocument/2006/relationships/tableStyles" Target="/ppt/tableStyles.xml" Id="Rd3db7a43a90e4bab" /><Relationship Type="http://schemas.openxmlformats.org/officeDocument/2006/relationships/slide" Target="/ppt/slides/slide1.xml" Id="R9ecca29500de4705" /><Relationship Type="http://schemas.openxmlformats.org/officeDocument/2006/relationships/slide" Target="/ppt/slides/slide2.xml" Id="R181b4ea6fe534242" /><Relationship Type="http://schemas.openxmlformats.org/officeDocument/2006/relationships/slide" Target="/ppt/slides/slide3.xml" Id="R93da92512473441a" /><Relationship Type="http://schemas.openxmlformats.org/officeDocument/2006/relationships/slide" Target="/ppt/slides/slide4.xml" Id="Ra03e880f642c43a7" /><Relationship Type="http://schemas.openxmlformats.org/officeDocument/2006/relationships/slide" Target="/ppt/slides/slide5.xml" Id="R1fcf81a34d5344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a385c5e264422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242620bcf44e31" /><Relationship Type="http://schemas.openxmlformats.org/officeDocument/2006/relationships/notesMaster" Target="/ppt/notesMasters/notesMaster1.xml" Id="R535f451649114f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b17553fdf94168" /><Relationship Type="http://schemas.openxmlformats.org/officeDocument/2006/relationships/notesMaster" Target="/ppt/notesMasters/notesMaster1.xml" Id="R2b5cf631df104c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aab966decb4248" /><Relationship Type="http://schemas.openxmlformats.org/officeDocument/2006/relationships/notesMaster" Target="/ppt/notesMasters/notesMaster1.xml" Id="R93549669d6314c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6aea453a394c6b" /><Relationship Type="http://schemas.openxmlformats.org/officeDocument/2006/relationships/notesMaster" Target="/ppt/notesMasters/notesMaster1.xml" Id="R4049574890574b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f0d58c0a064f8d" /><Relationship Type="http://schemas.openxmlformats.org/officeDocument/2006/relationships/notesMaster" Target="/ppt/notesMasters/notesMaster1.xml" Id="R10281f28527e4d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0:00-1:00. Explain the practical problem and show the local application. Core functionality remains available without AI. Screenshot uses an explicitly fictional candidate and fictional sample jobs. Sources: project README.md and working application. Group identification can be added after the group number and members are 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1:00-2:00. Describe separation of responsibilities and why it improves testability. A bounded ThreadPoolExecutor keeps external network operations away from the request flow. SQLite uses parameterized SQL and independent connections. Source: jobcompass modules and docs/SPECIFICATION.md.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2:00-3:00. Show the two verified external sources and explain that data collection does not send the resume. Distinguish live sources from twelve fictional demo jobs. No claim is made to scrape authenticated domestic recruitment sites. Sources: docs/live_check.json, https://github.com/remotive-com/remote-jobs-api and https://www.arbeitnow.com/blog/job-board-api. Counts describe this test, not permanent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3:00-4:00. Explain weighted precision and recall, cosine similarity, active-weight normalization and condition coverage. The generic-skills regression test catches unrelated writing jobs. AI calls require opt-in, use saved resume content and retain the original resume. Sources: matching.py, ai.py, docs/SPECIFICATION.md and https://api-docs.deepseek.com/guides/json_mode/.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4:00-5:00. Summarize validation honestly. The benchmark is a local run of repeated sample jobs; it is not a production performance guarantee. Show an invalid-input error if time permits. Explain that Codex assisted specification, implementation, tests, review and documentation. Each member must independently understand and report their real contributions. Sources: docs/test_results.txt, docs/evaluation.json, docs/live_check.json, docs/DEMO_SCRIPT.md.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6e7d3b3bc840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17622b8d164de2" /><Relationship Type="http://schemas.openxmlformats.org/officeDocument/2006/relationships/slideLayout" Target="/ppt/slideLayouts/slideLayout1.xml" Id="Rb3e4a40b4e1a48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e4a40b4e1a48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25e8771451746ed" /><Relationship Type="http://schemas.openxmlformats.org/officeDocument/2006/relationships/image" Target="/ppt/media/image.jpeg" Id="Ra4aa475f65b043b2" /><Relationship Type="http://schemas.openxmlformats.org/officeDocument/2006/relationships/notesSlide" Target="/ppt/notesSlides/notesSlide1.xml" Id="R035d0896bc4d43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5d12a2779747d8" /><Relationship Type="http://schemas.openxmlformats.org/officeDocument/2006/relationships/notesSlide" Target="/ppt/notesSlides/notesSlide2.xml" Id="R37894f2a88e140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8e330a48ef4e83" /><Relationship Type="http://schemas.openxmlformats.org/officeDocument/2006/relationships/image" Target="/ppt/media/image2.jpeg" Id="R8332ac4c44754502" /><Relationship Type="http://schemas.openxmlformats.org/officeDocument/2006/relationships/notesSlide" Target="/ppt/notesSlides/notesSlide3.xml" Id="R0aa33064f87241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093247faee248ca" /><Relationship Type="http://schemas.openxmlformats.org/officeDocument/2006/relationships/chart" Target="/ppt/slides/charts/chart1.xml" Id="Re17e856070404942" /><Relationship Type="http://schemas.openxmlformats.org/officeDocument/2006/relationships/notesSlide" Target="/ppt/notesSlides/notesSlide4.xml" Id="R72b0eeb075ab47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0ffe78596247ba" /><Relationship Type="http://schemas.openxmlformats.org/officeDocument/2006/relationships/notesSlide" Target="/ppt/notesSlides/notesSlide5.xml" Id="R6706689384724c9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Base weight (%)</c:v>
          </c:tx>
          <c:spPr>
            <a:solidFill xmlns:a="http://schemas.openxmlformats.org/drawingml/2006/main">
              <a:srgbClr val="087D75"/>
            </a:solidFill>
          </c:spPr>
          <c:cat>
            <c:strRef>
              <c:f>'Chart Data'!$A$2:$A$6</c:f>
              <c:strCache>
                <c:ptCount val="5"/>
                <c:pt idx="0">
                  <c:v>Skills</c:v>
                </c:pt>
                <c:pt idx="1">
                  <c:v>Text</c:v>
                </c:pt>
                <c:pt idx="2">
                  <c:v>Experience</c:v>
                </c:pt>
                <c:pt idx="3">
                  <c:v>Location</c:v>
                </c:pt>
                <c:pt idx="4">
                  <c:v>Education</c:v>
                </c:pt>
              </c:strCache>
            </c:strRef>
          </c:cat>
          <c:val>
            <c:numRef>
              <c:f>'Chart Data'!$B$2:$B$6</c:f>
              <c:numCache>
                <c:formatCode>General</c:formatCode>
                <c:ptCount val="5"/>
                <c:pt idx="0">
                  <c:v>45</c:v>
                </c:pt>
                <c:pt idx="1">
                  <c:v>25</c:v>
                </c:pt>
                <c:pt idx="2">
                  <c:v>15</c:v>
                </c:pt>
                <c:pt idx="3">
                  <c:v>10</c:v>
                </c:pt>
                <c:pt idx="4">
                  <c:v>5</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94E57F-9A41-404F-9F5D-3399F8BC0769}"/>
              </a:ext>
            </a:extLst>
          </p:cNvPr>
          <p:cNvSpPr>
            <a:spLocks xmlns:a="http://schemas.openxmlformats.org/drawingml/2006/main" noGrp="1"/>
          </p:cNvSpPr>
          <p:nvPr/>
        </p:nvSpPr>
        <p:spPr>
          <a:xfrm xmlns:a="http://schemas.openxmlformats.org/drawingml/2006/main">
            <a:off x="571500" y="428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C3B"/>
                </a:solidFill>
                <a:latin typeface="Helvetica Neue"/>
                <a:ea typeface="Helvetica Neue"/>
                <a:cs typeface="Helvetica Neue"/>
              </a:defRPr>
            </a:pPr>
            <a:r>
              <a:rPr sz="3000" b="1">
                <a:solidFill>
                  <a:srgbClr val="183C3B"/>
                </a:solidFill>
                <a:latin typeface="Helvetica Neue"/>
                <a:ea typeface="Helvetica Neue"/>
                <a:cs typeface="Helvetica Neue"/>
              </a:rPr>
              <a:t>JobCompass intelligent job search</a:t>
            </a:r>
          </a:p>
        </p:txBody>
      </p:sp>
      <p:sp>
        <p:nvSpPr>
          <p:cNvPr id="2" name="">
            <a:extLst xmlns:a="http://schemas.openxmlformats.org/drawingml/2006/main">
              <a:ext uri="{FF2B5EF4-FFF2-40B4-BE49-F238E27FC236}">
                <a16:creationId xmlns:a16="http://schemas.microsoft.com/office/drawing/2014/main" id="{05B41CF7-CB0E-4B92-9063-9A8DC6600F38}"/>
              </a:ext>
            </a:extLst>
          </p:cNvPr>
          <p:cNvSpPr>
            <a:spLocks xmlns:a="http://schemas.openxmlformats.org/drawingml/2006/main" noGrp="1"/>
          </p:cNvSpPr>
          <p:nvPr/>
        </p:nvSpPr>
        <p:spPr>
          <a:xfrm xmlns:a="http://schemas.openxmlformats.org/drawingml/2006/main">
            <a:off x="571500" y="63531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C7D82"/>
                </a:solidFill>
                <a:latin typeface="Helvetica Neue"/>
                <a:ea typeface="Helvetica Neue"/>
                <a:cs typeface="Helvetica Neue"/>
              </a:defRPr>
            </a:pPr>
            <a:r>
              <a:rPr sz="1050" b="0">
                <a:solidFill>
                  <a:srgbClr val="6C7D82"/>
                </a:solidFill>
                <a:latin typeface="Helvetica Neue"/>
                <a:ea typeface="Helvetica Neue"/>
                <a:cs typeface="Helvetica Neue"/>
              </a:rPr>
              <a:t>JobCompass    INT6181    1 / 5</a:t>
            </a:r>
          </a:p>
        </p:txBody>
      </p:sp>
      <p:sp>
        <p:nvSpPr>
          <p:cNvPr id="3" name="">
            <a:extLst xmlns:a="http://schemas.openxmlformats.org/drawingml/2006/main">
              <a:ext uri="{FF2B5EF4-FFF2-40B4-BE49-F238E27FC236}">
                <a16:creationId xmlns:a16="http://schemas.microsoft.com/office/drawing/2014/main" id="{BD10EE26-1B8A-4A61-B7B6-13EFC5817FDC}"/>
              </a:ext>
            </a:extLst>
          </p:cNvPr>
          <p:cNvSpPr>
            <a:spLocks xmlns:a="http://schemas.openxmlformats.org/drawingml/2006/main" noGrp="1"/>
          </p:cNvSpPr>
          <p:nvPr/>
        </p:nvSpPr>
        <p:spPr>
          <a:xfrm xmlns:a="http://schemas.openxmlformats.org/drawingml/2006/main">
            <a:off x="571500" y="110490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C7D82"/>
                </a:solidFill>
                <a:latin typeface="Helvetica Neue"/>
                <a:ea typeface="Helvetica Neue"/>
                <a:cs typeface="Helvetica Neue"/>
              </a:defRPr>
            </a:pPr>
            <a:r>
              <a:rPr sz="2025" b="0">
                <a:solidFill>
                  <a:srgbClr val="6C7D82"/>
                </a:solidFill>
                <a:latin typeface="Helvetica Neue"/>
                <a:ea typeface="Helvetica Neue"/>
                <a:cs typeface="Helvetica Neue"/>
              </a:rPr>
              <a:t>A local Python workspace for resume-based job discovery</a:t>
            </a:r>
          </a:p>
        </p:txBody>
      </p:sp>
      <p:sp>
        <p:nvSpPr>
          <p:cNvPr id="4" name="">
            <a:extLst xmlns:a="http://schemas.openxmlformats.org/drawingml/2006/main">
              <a:ext uri="{FF2B5EF4-FFF2-40B4-BE49-F238E27FC236}">
                <a16:creationId xmlns:a16="http://schemas.microsoft.com/office/drawing/2014/main" id="{6BEA1817-BD7F-4C23-A2B4-A834ED77034F}"/>
              </a:ext>
            </a:extLst>
          </p:cNvPr>
          <p:cNvSpPr>
            <a:spLocks xmlns:a="http://schemas.openxmlformats.org/drawingml/2006/main" noGrp="1"/>
          </p:cNvSpPr>
          <p:nvPr/>
        </p:nvSpPr>
        <p:spPr>
          <a:xfrm xmlns:a="http://schemas.openxmlformats.org/drawingml/2006/main">
            <a:off x="571500" y="2066925"/>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C3B"/>
                </a:solidFill>
                <a:latin typeface="Helvetica Neue"/>
                <a:ea typeface="Helvetica Neue"/>
                <a:cs typeface="Helvetica Neue"/>
              </a:defRPr>
            </a:pPr>
            <a:r>
              <a:rPr sz="2025" b="1">
                <a:solidFill>
                  <a:srgbClr val="183C3B"/>
                </a:solidFill>
                <a:latin typeface="Helvetica Neue"/>
                <a:ea typeface="Helvetica Neue"/>
                <a:cs typeface="Helvetica Neue"/>
              </a:rPr>
              <a:t>The problem</a:t>
            </a:r>
          </a:p>
        </p:txBody>
      </p:sp>
      <p:sp>
        <p:nvSpPr>
          <p:cNvPr id="5" name="">
            <a:extLst xmlns:a="http://schemas.openxmlformats.org/drawingml/2006/main">
              <a:ext uri="{FF2B5EF4-FFF2-40B4-BE49-F238E27FC236}">
                <a16:creationId xmlns:a16="http://schemas.microsoft.com/office/drawing/2014/main" id="{627B34C5-B923-4260-A1DA-253821F573C2}"/>
              </a:ext>
            </a:extLst>
          </p:cNvPr>
          <p:cNvSpPr>
            <a:spLocks xmlns:a="http://schemas.openxmlformats.org/drawingml/2006/main" noGrp="1"/>
          </p:cNvSpPr>
          <p:nvPr/>
        </p:nvSpPr>
        <p:spPr>
          <a:xfrm xmlns:a="http://schemas.openxmlformats.org/drawingml/2006/main">
            <a:off x="571500" y="2667000"/>
            <a:ext cx="4000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C3B"/>
                </a:solidFill>
                <a:latin typeface="Helvetica Neue"/>
                <a:ea typeface="Helvetica Neue"/>
                <a:cs typeface="Helvetica Neue"/>
              </a:defRPr>
            </a:pPr>
            <a:r>
              <a:rPr sz="1875" b="0">
                <a:solidFill>
                  <a:srgbClr val="183C3B"/>
                </a:solidFill>
                <a:latin typeface="Helvetica Neue"/>
                <a:ea typeface="Helvetica Neue"/>
                <a:cs typeface="Helvetica Neue"/>
              </a:rPr>
              <a:t>Job information is scattered.</a:t>
            </a:r>
          </a:p>
          <a:p xmlns:a="http://schemas.openxmlformats.org/drawingml/2006/main">
            <a:pPr>
              <a:defRPr sz="1875" b="0">
                <a:solidFill>
                  <a:srgbClr val="183C3B"/>
                </a:solidFill>
                <a:latin typeface="Helvetica Neue"/>
                <a:ea typeface="Helvetica Neue"/>
                <a:cs typeface="Helvetica Neue"/>
              </a:defRPr>
            </a:pPr>
            <a:r>
              <a:rPr sz="1875" b="0">
                <a:solidFill>
                  <a:srgbClr val="183C3B"/>
                </a:solidFill>
                <a:latin typeface="Helvetica Neue"/>
                <a:ea typeface="Helvetica Neue"/>
                <a:cs typeface="Helvetica Neue"/>
              </a:rPr>
              <a:t>Requirements are inconsistent.</a:t>
            </a:r>
          </a:p>
          <a:p xmlns:a="http://schemas.openxmlformats.org/drawingml/2006/main">
            <a:pPr>
              <a:defRPr sz="1875" b="0">
                <a:solidFill>
                  <a:srgbClr val="183C3B"/>
                </a:solidFill>
                <a:latin typeface="Helvetica Neue"/>
                <a:ea typeface="Helvetica Neue"/>
                <a:cs typeface="Helvetica Neue"/>
              </a:defRPr>
            </a:pPr>
            <a:r>
              <a:rPr sz="1875" b="0">
                <a:solidFill>
                  <a:srgbClr val="183C3B"/>
                </a:solidFill>
                <a:latin typeface="Helvetica Neue"/>
                <a:ea typeface="Helvetica Neue"/>
                <a:cs typeface="Helvetica Neue"/>
              </a:rPr>
              <a:t>Application progress gets lost.</a:t>
            </a:r>
          </a:p>
        </p:txBody>
      </p:sp>
      <p:sp>
        <p:nvSpPr>
          <p:cNvPr id="6" name="">
            <a:extLst xmlns:a="http://schemas.openxmlformats.org/drawingml/2006/main">
              <a:ext uri="{FF2B5EF4-FFF2-40B4-BE49-F238E27FC236}">
                <a16:creationId xmlns:a16="http://schemas.microsoft.com/office/drawing/2014/main" id="{6332FE3A-6632-41FE-9F20-AD77C49B2B4F}"/>
              </a:ext>
            </a:extLst>
          </p:cNvPr>
          <p:cNvSpPr>
            <a:spLocks xmlns:a="http://schemas.openxmlformats.org/drawingml/2006/main" noGrp="1"/>
          </p:cNvSpPr>
          <p:nvPr/>
        </p:nvSpPr>
        <p:spPr>
          <a:xfrm xmlns:a="http://schemas.openxmlformats.org/drawingml/2006/main">
            <a:off x="571500" y="44291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C3B"/>
                </a:solidFill>
                <a:latin typeface="Helvetica Neue"/>
                <a:ea typeface="Helvetica Neue"/>
                <a:cs typeface="Helvetica Neue"/>
              </a:defRPr>
            </a:pPr>
            <a:r>
              <a:rPr sz="2025" b="1">
                <a:solidFill>
                  <a:srgbClr val="183C3B"/>
                </a:solidFill>
                <a:latin typeface="Helvetica Neue"/>
                <a:ea typeface="Helvetica Neue"/>
                <a:cs typeface="Helvetica Neue"/>
              </a:rPr>
              <a:t>The application</a:t>
            </a:r>
          </a:p>
        </p:txBody>
      </p:sp>
      <p:sp>
        <p:nvSpPr>
          <p:cNvPr id="7" name="">
            <a:extLst xmlns:a="http://schemas.openxmlformats.org/drawingml/2006/main">
              <a:ext uri="{FF2B5EF4-FFF2-40B4-BE49-F238E27FC236}">
                <a16:creationId xmlns:a16="http://schemas.microsoft.com/office/drawing/2014/main" id="{9739D395-C7BA-4642-A8B2-2BAB1B3CF475}"/>
              </a:ext>
            </a:extLst>
          </p:cNvPr>
          <p:cNvSpPr>
            <a:spLocks xmlns:a="http://schemas.openxmlformats.org/drawingml/2006/main" noGrp="1"/>
          </p:cNvSpPr>
          <p:nvPr/>
        </p:nvSpPr>
        <p:spPr>
          <a:xfrm xmlns:a="http://schemas.openxmlformats.org/drawingml/2006/main">
            <a:off x="571500" y="4933950"/>
            <a:ext cx="3905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C3B"/>
                </a:solidFill>
                <a:latin typeface="Helvetica Neue"/>
                <a:ea typeface="Helvetica Neue"/>
                <a:cs typeface="Helvetica Neue"/>
              </a:defRPr>
            </a:pPr>
            <a:r>
              <a:rPr sz="1875" b="0">
                <a:solidFill>
                  <a:srgbClr val="183C3B"/>
                </a:solidFill>
                <a:latin typeface="Helvetica Neue"/>
                <a:ea typeface="Helvetica Neue"/>
                <a:cs typeface="Helvetica Neue"/>
              </a:rPr>
              <a:t>Import a resume, compare jobs and record the next step.</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4aa475f65b043b2"/>
          <a:stretch xmlns:a="http://schemas.openxmlformats.org/drawingml/2006/main"/>
        </p:blipFill>
        <p:spPr>
          <a:xfrm xmlns:a="http://schemas.openxmlformats.org/drawingml/2006/main">
            <a:off x="4957763" y="1762125"/>
            <a:ext cx="6515100" cy="4524375"/>
          </a:xfrm>
          <a:prstGeom xmlns:a="http://schemas.openxmlformats.org/drawingml/2006/main" prst="rect">
            <a:avLst/>
          </a:prstGeom>
        </p:spPr>
      </p:pic>
    </p:spTree>
    <p:extLst>
      <p:ext uri="{BB962C8B-B14F-4D97-AF65-F5344CB8AC3E}">
        <p14:creationId xmlns:p14="http://schemas.microsoft.com/office/powerpoint/2010/main" val="93187495"/>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0AF076-DC02-498E-97AF-5596439D8AF0}"/>
              </a:ext>
            </a:extLst>
          </p:cNvPr>
          <p:cNvSpPr>
            <a:spLocks xmlns:a="http://schemas.openxmlformats.org/drawingml/2006/main" noGrp="1"/>
          </p:cNvSpPr>
          <p:nvPr/>
        </p:nvSpPr>
        <p:spPr>
          <a:xfrm xmlns:a="http://schemas.openxmlformats.org/drawingml/2006/main">
            <a:off x="571500" y="428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C3B"/>
                </a:solidFill>
                <a:latin typeface="Helvetica Neue"/>
                <a:ea typeface="Helvetica Neue"/>
                <a:cs typeface="Helvetica Neue"/>
              </a:defRPr>
            </a:pPr>
            <a:r>
              <a:rPr sz="3000" b="1">
                <a:solidFill>
                  <a:srgbClr val="183C3B"/>
                </a:solidFill>
                <a:latin typeface="Helvetica Neue"/>
                <a:ea typeface="Helvetica Neue"/>
                <a:cs typeface="Helvetica Neue"/>
              </a:rPr>
              <a:t>Python architecture and responsibilities</a:t>
            </a:r>
          </a:p>
        </p:txBody>
      </p:sp>
      <p:sp>
        <p:nvSpPr>
          <p:cNvPr id="2" name="">
            <a:extLst xmlns:a="http://schemas.openxmlformats.org/drawingml/2006/main">
              <a:ext uri="{FF2B5EF4-FFF2-40B4-BE49-F238E27FC236}">
                <a16:creationId xmlns:a16="http://schemas.microsoft.com/office/drawing/2014/main" id="{73BE0E78-1791-4BBF-98CA-2B1EED412B2A}"/>
              </a:ext>
            </a:extLst>
          </p:cNvPr>
          <p:cNvSpPr>
            <a:spLocks xmlns:a="http://schemas.openxmlformats.org/drawingml/2006/main" noGrp="1"/>
          </p:cNvSpPr>
          <p:nvPr/>
        </p:nvSpPr>
        <p:spPr>
          <a:xfrm xmlns:a="http://schemas.openxmlformats.org/drawingml/2006/main">
            <a:off x="571500" y="63531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C7D82"/>
                </a:solidFill>
                <a:latin typeface="Helvetica Neue"/>
                <a:ea typeface="Helvetica Neue"/>
                <a:cs typeface="Helvetica Neue"/>
              </a:defRPr>
            </a:pPr>
            <a:r>
              <a:rPr sz="1050" b="0">
                <a:solidFill>
                  <a:srgbClr val="6C7D82"/>
                </a:solidFill>
                <a:latin typeface="Helvetica Neue"/>
                <a:ea typeface="Helvetica Neue"/>
                <a:cs typeface="Helvetica Neue"/>
              </a:rPr>
              <a:t>JobCompass    INT6181    2 / 5</a:t>
            </a:r>
          </a:p>
        </p:txBody>
      </p:sp>
      <p:sp>
        <p:nvSpPr>
          <p:cNvPr id="3" name="">
            <a:extLst xmlns:a="http://schemas.openxmlformats.org/drawingml/2006/main">
              <a:ext uri="{FF2B5EF4-FFF2-40B4-BE49-F238E27FC236}">
                <a16:creationId xmlns:a16="http://schemas.microsoft.com/office/drawing/2014/main" id="{C534B481-1FCB-4478-A3D6-59469B60DE0F}"/>
              </a:ext>
            </a:extLst>
          </p:cNvPr>
          <p:cNvSpPr>
            <a:spLocks xmlns:a="http://schemas.openxmlformats.org/drawingml/2006/main" noGrp="1"/>
          </p:cNvSpPr>
          <p:nvPr/>
        </p:nvSpPr>
        <p:spPr>
          <a:xfrm xmlns:a="http://schemas.openxmlformats.org/drawingml/2006/main">
            <a:off x="571500" y="11144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C7D82"/>
                </a:solidFill>
                <a:latin typeface="Helvetica Neue"/>
                <a:ea typeface="Helvetica Neue"/>
                <a:cs typeface="Helvetica Neue"/>
              </a:defRPr>
            </a:pPr>
            <a:r>
              <a:rPr sz="1950" b="0">
                <a:solidFill>
                  <a:srgbClr val="6C7D82"/>
                </a:solidFill>
                <a:latin typeface="Helvetica Neue"/>
                <a:ea typeface="Helvetica Neue"/>
                <a:cs typeface="Helvetica Neue"/>
              </a:rPr>
              <a:t>A modular service layer behind a browser GUI</a:t>
            </a:r>
          </a:p>
        </p:txBody>
      </p:sp>
      <p:graphicFrame>
        <p:nvGraphicFramePr>
          <p:cNvPr id="9" name=""/>
          <p:cNvGraphicFramePr/>
          <p:nvPr/>
        </p:nvGraphicFramePr>
        <p:xfrm>
          <a:off xmlns:a="http://schemas.openxmlformats.org/drawingml/2006/main" x="571500" y="1981200"/>
          <a:ext xmlns:a="http://schemas.openxmlformats.org/drawingml/2006/main" cx="11049000" cy="3562350"/>
        </p:xfrm>
        <a:graphic xmlns:a="http://schemas.openxmlformats.org/drawingml/2006/main">
          <a:graphicData uri="http://schemas.openxmlformats.org/drawingml/2006/table">
            <a:tbl>
              <a:tblPr/>
              <a:tblGrid>
                <a:gridCol w="2381250"/>
                <a:gridCol w="4191000"/>
                <a:gridCol w="4476750"/>
              </a:tblGrid>
              <a:tr h="593725">
                <a:tc>
                  <a:txBody>
                    <a:bodyPr/>
                    <a:lstStyle/>
                    <a:p>
                      <a:r>
                        <a:rPr sz="1575" b="1">
                          <a:solidFill>
                            <a:srgbClr val="FFFFFF"/>
                          </a:solidFill>
                          <a:latin typeface="Helvetica Neue"/>
                          <a:ea typeface="Helvetica Neue"/>
                          <a:cs typeface="Helvetica Neue"/>
                        </a:rPr>
                        <a:t>Module</a:t>
                      </a:r>
                    </a:p>
                  </a:txBody>
                  <a:tcPr marL="91440" marR="91440" marT="45720" marB="45720">
                    <a:solidFill>
                      <a:srgbClr val="183C3B"/>
                    </a:solidFill>
                  </a:tcPr>
                </a:tc>
                <a:tc>
                  <a:txBody>
                    <a:bodyPr/>
                    <a:lstStyle/>
                    <a:p>
                      <a:r>
                        <a:rPr sz="1575" b="1">
                          <a:solidFill>
                            <a:srgbClr val="FFFFFF"/>
                          </a:solidFill>
                          <a:latin typeface="Helvetica Neue"/>
                          <a:ea typeface="Helvetica Neue"/>
                          <a:cs typeface="Helvetica Neue"/>
                        </a:rPr>
                        <a:t>Responsibility</a:t>
                      </a:r>
                    </a:p>
                  </a:txBody>
                  <a:tcPr marL="91440" marR="91440" marT="45720" marB="45720">
                    <a:solidFill>
                      <a:srgbClr val="183C3B"/>
                    </a:solidFill>
                  </a:tcPr>
                </a:tc>
                <a:tc>
                  <a:txBody>
                    <a:bodyPr/>
                    <a:lstStyle/>
                    <a:p>
                      <a:r>
                        <a:rPr sz="1575" b="1">
                          <a:solidFill>
                            <a:srgbClr val="FFFFFF"/>
                          </a:solidFill>
                          <a:latin typeface="Helvetica Neue"/>
                          <a:ea typeface="Helvetica Neue"/>
                          <a:cs typeface="Helvetica Neue"/>
                        </a:rPr>
                        <a:t>Python techniques</a:t>
                      </a:r>
                    </a:p>
                  </a:txBody>
                  <a:tcPr marL="91440" marR="91440" marT="45720" marB="45720">
                    <a:solidFill>
                      <a:srgbClr val="183C3B"/>
                    </a:solidFill>
                  </a:tcPr>
                </a:tc>
              </a:tr>
              <a:tr h="593725">
                <a:tc>
                  <a:txBody>
                    <a:bodyPr/>
                    <a:lstStyle/>
                    <a:p>
                      <a:r>
                        <a:rPr sz="1575" b="0">
                          <a:solidFill>
                            <a:srgbClr val="183C3B"/>
                          </a:solidFill>
                          <a:latin typeface="Helvetica Neue"/>
                          <a:ea typeface="Helvetica Neue"/>
                          <a:cs typeface="Helvetica Neue"/>
                        </a:rPr>
                        <a:t>resume.py</a:t>
                      </a:r>
                    </a:p>
                  </a:txBody>
                  <a:tcPr marL="91440" marR="91440" marT="45720" marB="45720">
                    <a:solidFill>
                      <a:srgbClr val="FFFFFF"/>
                    </a:solidFill>
                  </a:tcPr>
                </a:tc>
                <a:tc>
                  <a:txBody>
                    <a:bodyPr/>
                    <a:lstStyle/>
                    <a:p>
                      <a:r>
                        <a:rPr sz="1575" b="0">
                          <a:solidFill>
                            <a:srgbClr val="183C3B"/>
                          </a:solidFill>
                          <a:latin typeface="Helvetica Neue"/>
                          <a:ea typeface="Helvetica Neue"/>
                          <a:cs typeface="Helvetica Neue"/>
                        </a:rPr>
                        <a:t>File extraction and skill evidence</a:t>
                      </a:r>
                    </a:p>
                  </a:txBody>
                  <a:tcPr marL="91440" marR="91440" marT="45720" marB="45720">
                    <a:solidFill>
                      <a:srgbClr val="FFFFFF"/>
                    </a:solidFill>
                  </a:tcPr>
                </a:tc>
                <a:tc>
                  <a:txBody>
                    <a:bodyPr/>
                    <a:lstStyle/>
                    <a:p>
                      <a:r>
                        <a:rPr sz="1575" b="0">
                          <a:solidFill>
                            <a:srgbClr val="183C3B"/>
                          </a:solidFill>
                          <a:latin typeface="Helvetica Neue"/>
                          <a:ea typeface="Helvetica Neue"/>
                          <a:cs typeface="Helvetica Neue"/>
                        </a:rPr>
                        <a:t>Regex, ZIP, XML, optional PDF</a:t>
                      </a:r>
                    </a:p>
                  </a:txBody>
                  <a:tcPr marL="91440" marR="91440" marT="45720" marB="45720">
                    <a:solidFill>
                      <a:srgbClr val="FFFFFF"/>
                    </a:solidFill>
                  </a:tcPr>
                </a:tc>
              </a:tr>
              <a:tr h="593725">
                <a:tc>
                  <a:txBody>
                    <a:bodyPr/>
                    <a:lstStyle/>
                    <a:p>
                      <a:r>
                        <a:rPr sz="1575" b="0">
                          <a:solidFill>
                            <a:srgbClr val="183C3B"/>
                          </a:solidFill>
                          <a:latin typeface="Helvetica Neue"/>
                          <a:ea typeface="Helvetica Neue"/>
                          <a:cs typeface="Helvetica Neue"/>
                        </a:rPr>
                        <a:t>sources.py</a:t>
                      </a:r>
                    </a:p>
                  </a:txBody>
                  <a:tcPr marL="91440" marR="91440" marT="45720" marB="45720">
                    <a:solidFill>
                      <a:srgbClr val="EEF3F0"/>
                    </a:solidFill>
                  </a:tcPr>
                </a:tc>
                <a:tc>
                  <a:txBody>
                    <a:bodyPr/>
                    <a:lstStyle/>
                    <a:p>
                      <a:r>
                        <a:rPr sz="1575" b="0">
                          <a:solidFill>
                            <a:srgbClr val="183C3B"/>
                          </a:solidFill>
                          <a:latin typeface="Helvetica Neue"/>
                          <a:ea typeface="Helvetica Neue"/>
                          <a:cs typeface="Helvetica Neue"/>
                        </a:rPr>
                        <a:t>Public API and local imports</a:t>
                      </a:r>
                    </a:p>
                  </a:txBody>
                  <a:tcPr marL="91440" marR="91440" marT="45720" marB="45720">
                    <a:solidFill>
                      <a:srgbClr val="EEF3F0"/>
                    </a:solidFill>
                  </a:tcPr>
                </a:tc>
                <a:tc>
                  <a:txBody>
                    <a:bodyPr/>
                    <a:lstStyle/>
                    <a:p>
                      <a:r>
                        <a:rPr sz="1575" b="0">
                          <a:solidFill>
                            <a:srgbClr val="183C3B"/>
                          </a:solidFill>
                          <a:latin typeface="Helvetica Neue"/>
                          <a:ea typeface="Helvetica Neue"/>
                          <a:cs typeface="Helvetica Neue"/>
                        </a:rPr>
                        <a:t>HTTP, JSON, CSV, HTMLParser</a:t>
                      </a:r>
                    </a:p>
                  </a:txBody>
                  <a:tcPr marL="91440" marR="91440" marT="45720" marB="45720">
                    <a:solidFill>
                      <a:srgbClr val="EEF3F0"/>
                    </a:solidFill>
                  </a:tcPr>
                </a:tc>
              </a:tr>
              <a:tr h="593725">
                <a:tc>
                  <a:txBody>
                    <a:bodyPr/>
                    <a:lstStyle/>
                    <a:p>
                      <a:r>
                        <a:rPr sz="1575" b="0">
                          <a:solidFill>
                            <a:srgbClr val="183C3B"/>
                          </a:solidFill>
                          <a:latin typeface="Helvetica Neue"/>
                          <a:ea typeface="Helvetica Neue"/>
                          <a:cs typeface="Helvetica Neue"/>
                        </a:rPr>
                        <a:t>matching.py</a:t>
                      </a:r>
                    </a:p>
                  </a:txBody>
                  <a:tcPr marL="91440" marR="91440" marT="45720" marB="45720">
                    <a:solidFill>
                      <a:srgbClr val="FFFFFF"/>
                    </a:solidFill>
                  </a:tcPr>
                </a:tc>
                <a:tc>
                  <a:txBody>
                    <a:bodyPr/>
                    <a:lstStyle/>
                    <a:p>
                      <a:r>
                        <a:rPr sz="1575" b="0">
                          <a:solidFill>
                            <a:srgbClr val="183C3B"/>
                          </a:solidFill>
                          <a:latin typeface="Helvetica Neue"/>
                          <a:ea typeface="Helvetica Neue"/>
                          <a:cs typeface="Helvetica Neue"/>
                        </a:rPr>
                        <a:t>Deterministic ranking</a:t>
                      </a:r>
                    </a:p>
                  </a:txBody>
                  <a:tcPr marL="91440" marR="91440" marT="45720" marB="45720">
                    <a:solidFill>
                      <a:srgbClr val="FFFFFF"/>
                    </a:solidFill>
                  </a:tcPr>
                </a:tc>
                <a:tc>
                  <a:txBody>
                    <a:bodyPr/>
                    <a:lstStyle/>
                    <a:p>
                      <a:r>
                        <a:rPr sz="1575" b="0">
                          <a:solidFill>
                            <a:srgbClr val="183C3B"/>
                          </a:solidFill>
                          <a:latin typeface="Helvetica Neue"/>
                          <a:ea typeface="Helvetica Neue"/>
                          <a:cs typeface="Helvetica Neue"/>
                        </a:rPr>
                        <a:t>Counters, TF-IDF, weighted F1</a:t>
                      </a:r>
                    </a:p>
                  </a:txBody>
                  <a:tcPr marL="91440" marR="91440" marT="45720" marB="45720">
                    <a:solidFill>
                      <a:srgbClr val="FFFFFF"/>
                    </a:solidFill>
                  </a:tcPr>
                </a:tc>
              </a:tr>
              <a:tr h="593725">
                <a:tc>
                  <a:txBody>
                    <a:bodyPr/>
                    <a:lstStyle/>
                    <a:p>
                      <a:r>
                        <a:rPr sz="1575" b="0">
                          <a:solidFill>
                            <a:srgbClr val="183C3B"/>
                          </a:solidFill>
                          <a:latin typeface="Helvetica Neue"/>
                          <a:ea typeface="Helvetica Neue"/>
                          <a:cs typeface="Helvetica Neue"/>
                        </a:rPr>
                        <a:t>storage.py</a:t>
                      </a:r>
                    </a:p>
                  </a:txBody>
                  <a:tcPr marL="91440" marR="91440" marT="45720" marB="45720">
                    <a:solidFill>
                      <a:srgbClr val="EEF3F0"/>
                    </a:solidFill>
                  </a:tcPr>
                </a:tc>
                <a:tc>
                  <a:txBody>
                    <a:bodyPr/>
                    <a:lstStyle/>
                    <a:p>
                      <a:r>
                        <a:rPr sz="1575" b="0">
                          <a:solidFill>
                            <a:srgbClr val="183C3B"/>
                          </a:solidFill>
                          <a:latin typeface="Helvetica Neue"/>
                          <a:ea typeface="Helvetica Neue"/>
                          <a:cs typeface="Helvetica Neue"/>
                        </a:rPr>
                        <a:t>Persistent jobs and applications</a:t>
                      </a:r>
                    </a:p>
                  </a:txBody>
                  <a:tcPr marL="91440" marR="91440" marT="45720" marB="45720">
                    <a:solidFill>
                      <a:srgbClr val="EEF3F0"/>
                    </a:solidFill>
                  </a:tcPr>
                </a:tc>
                <a:tc>
                  <a:txBody>
                    <a:bodyPr/>
                    <a:lstStyle/>
                    <a:p>
                      <a:r>
                        <a:rPr sz="1575" b="0">
                          <a:solidFill>
                            <a:srgbClr val="183C3B"/>
                          </a:solidFill>
                          <a:latin typeface="Helvetica Neue"/>
                          <a:ea typeface="Helvetica Neue"/>
                          <a:cs typeface="Helvetica Neue"/>
                        </a:rPr>
                        <a:t>SQLite, transactions, SQL parameters</a:t>
                      </a:r>
                    </a:p>
                  </a:txBody>
                  <a:tcPr marL="91440" marR="91440" marT="45720" marB="45720">
                    <a:solidFill>
                      <a:srgbClr val="EEF3F0"/>
                    </a:solidFill>
                  </a:tcPr>
                </a:tc>
              </a:tr>
              <a:tr h="593725">
                <a:tc>
                  <a:txBody>
                    <a:bodyPr/>
                    <a:lstStyle/>
                    <a:p>
                      <a:r>
                        <a:rPr sz="1575" b="0">
                          <a:solidFill>
                            <a:srgbClr val="183C3B"/>
                          </a:solidFill>
                          <a:latin typeface="Helvetica Neue"/>
                          <a:ea typeface="Helvetica Neue"/>
                          <a:cs typeface="Helvetica Neue"/>
                        </a:rPr>
                        <a:t>server.py + ai.py</a:t>
                      </a:r>
                    </a:p>
                  </a:txBody>
                  <a:tcPr marL="91440" marR="91440" marT="45720" marB="45720">
                    <a:solidFill>
                      <a:srgbClr val="FFFFFF"/>
                    </a:solidFill>
                  </a:tcPr>
                </a:tc>
                <a:tc>
                  <a:txBody>
                    <a:bodyPr/>
                    <a:lstStyle/>
                    <a:p>
                      <a:r>
                        <a:rPr sz="1575" b="0">
                          <a:solidFill>
                            <a:srgbClr val="183C3B"/>
                          </a:solidFill>
                          <a:latin typeface="Helvetica Neue"/>
                          <a:ea typeface="Helvetica Neue"/>
                          <a:cs typeface="Helvetica Neue"/>
                        </a:rPr>
                        <a:t>GUI API and DeepSeek tasks</a:t>
                      </a:r>
                    </a:p>
                  </a:txBody>
                  <a:tcPr marL="91440" marR="91440" marT="45720" marB="45720">
                    <a:solidFill>
                      <a:srgbClr val="FFFFFF"/>
                    </a:solidFill>
                  </a:tcPr>
                </a:tc>
                <a:tc>
                  <a:txBody>
                    <a:bodyPr/>
                    <a:lstStyle/>
                    <a:p>
                      <a:r>
                        <a:rPr sz="1575" b="0">
                          <a:solidFill>
                            <a:srgbClr val="183C3B"/>
                          </a:solidFill>
                          <a:latin typeface="Helvetica Neue"/>
                          <a:ea typeface="Helvetica Neue"/>
                          <a:cs typeface="Helvetica Neue"/>
                        </a:rPr>
                        <a:t>Classes, threads, validation</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0D2F844-51DC-46B1-A522-F88F48F4CFC1}"/>
              </a:ext>
            </a:extLst>
          </p:cNvPr>
          <p:cNvSpPr>
            <a:spLocks xmlns:a="http://schemas.openxmlformats.org/drawingml/2006/main" noGrp="1"/>
          </p:cNvSpPr>
          <p:nvPr/>
        </p:nvSpPr>
        <p:spPr>
          <a:xfrm xmlns:a="http://schemas.openxmlformats.org/drawingml/2006/main">
            <a:off x="571500" y="57531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7D82"/>
                </a:solidFill>
                <a:latin typeface="Helvetica Neue"/>
                <a:ea typeface="Helvetica Neue"/>
                <a:cs typeface="Helvetica Neue"/>
              </a:defRPr>
            </a:pPr>
            <a:r>
              <a:rPr sz="1725" b="0">
                <a:solidFill>
                  <a:srgbClr val="6C7D82"/>
                </a:solidFill>
                <a:latin typeface="Helvetica Neue"/>
                <a:ea typeface="Helvetica Neue"/>
                <a:cs typeface="Helvetica Neue"/>
              </a:rPr>
              <a:t>main.py is the entry point. SQLite and local ranking work offline.</a:t>
            </a:r>
          </a:p>
        </p:txBody>
      </p:sp>
    </p:spTree>
    <p:extLst>
      <p:ext uri="{BB962C8B-B14F-4D97-AF65-F5344CB8AC3E}">
        <p14:creationId xmlns:p14="http://schemas.microsoft.com/office/powerpoint/2010/main" val="1376483639"/>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82AE52-408A-4661-B6EC-662F76620D46}"/>
              </a:ext>
            </a:extLst>
          </p:cNvPr>
          <p:cNvSpPr>
            <a:spLocks xmlns:a="http://schemas.openxmlformats.org/drawingml/2006/main" noGrp="1"/>
          </p:cNvSpPr>
          <p:nvPr/>
        </p:nvSpPr>
        <p:spPr>
          <a:xfrm xmlns:a="http://schemas.openxmlformats.org/drawingml/2006/main">
            <a:off x="571500" y="428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C3B"/>
                </a:solidFill>
                <a:latin typeface="Helvetica Neue"/>
                <a:ea typeface="Helvetica Neue"/>
                <a:cs typeface="Helvetica Neue"/>
              </a:defRPr>
            </a:pPr>
            <a:r>
              <a:rPr sz="3000" b="1">
                <a:solidFill>
                  <a:srgbClr val="183C3B"/>
                </a:solidFill>
                <a:latin typeface="Helvetica Neue"/>
                <a:ea typeface="Helvetica Neue"/>
                <a:cs typeface="Helvetica Neue"/>
              </a:rPr>
              <a:t>Public job sources and reliable imports</a:t>
            </a:r>
          </a:p>
        </p:txBody>
      </p:sp>
      <p:sp>
        <p:nvSpPr>
          <p:cNvPr id="2" name="">
            <a:extLst xmlns:a="http://schemas.openxmlformats.org/drawingml/2006/main">
              <a:ext uri="{FF2B5EF4-FFF2-40B4-BE49-F238E27FC236}">
                <a16:creationId xmlns:a16="http://schemas.microsoft.com/office/drawing/2014/main" id="{E6D79307-A7F6-4E6F-BF3F-4778483F575E}"/>
              </a:ext>
            </a:extLst>
          </p:cNvPr>
          <p:cNvSpPr>
            <a:spLocks xmlns:a="http://schemas.openxmlformats.org/drawingml/2006/main" noGrp="1"/>
          </p:cNvSpPr>
          <p:nvPr/>
        </p:nvSpPr>
        <p:spPr>
          <a:xfrm xmlns:a="http://schemas.openxmlformats.org/drawingml/2006/main">
            <a:off x="571500" y="63531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C7D82"/>
                </a:solidFill>
                <a:latin typeface="Helvetica Neue"/>
                <a:ea typeface="Helvetica Neue"/>
                <a:cs typeface="Helvetica Neue"/>
              </a:defRPr>
            </a:pPr>
            <a:r>
              <a:rPr sz="1050" b="0">
                <a:solidFill>
                  <a:srgbClr val="6C7D82"/>
                </a:solidFill>
                <a:latin typeface="Helvetica Neue"/>
                <a:ea typeface="Helvetica Neue"/>
                <a:cs typeface="Helvetica Neue"/>
              </a:rPr>
              <a:t>JobCompass    INT6181    3 / 5</a:t>
            </a:r>
          </a:p>
        </p:txBody>
      </p:sp>
      <p:sp>
        <p:nvSpPr>
          <p:cNvPr id="3" name="">
            <a:extLst xmlns:a="http://schemas.openxmlformats.org/drawingml/2006/main">
              <a:ext uri="{FF2B5EF4-FFF2-40B4-BE49-F238E27FC236}">
                <a16:creationId xmlns:a16="http://schemas.microsoft.com/office/drawing/2014/main" id="{2E3A4A3C-9606-4408-AEA2-E30CB57D74F0}"/>
              </a:ext>
            </a:extLst>
          </p:cNvPr>
          <p:cNvSpPr>
            <a:spLocks xmlns:a="http://schemas.openxmlformats.org/drawingml/2006/main" noGrp="1"/>
          </p:cNvSpPr>
          <p:nvPr/>
        </p:nvSpPr>
        <p:spPr>
          <a:xfrm xmlns:a="http://schemas.openxmlformats.org/drawingml/2006/main">
            <a:off x="571500" y="11430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87D75"/>
                </a:solidFill>
                <a:latin typeface="Helvetica Neue"/>
                <a:ea typeface="Helvetica Neue"/>
                <a:cs typeface="Helvetica Neue"/>
              </a:defRPr>
            </a:pPr>
            <a:r>
              <a:rPr sz="2100" b="1">
                <a:solidFill>
                  <a:srgbClr val="087D75"/>
                </a:solidFill>
                <a:latin typeface="Helvetica Neue"/>
                <a:ea typeface="Helvetica Neue"/>
                <a:cs typeface="Helvetica Neue"/>
              </a:rPr>
              <a:t>341 real jobs collected in the integration check</a:t>
            </a:r>
          </a:p>
        </p:txBody>
      </p:sp>
      <p:sp>
        <p:nvSpPr>
          <p:cNvPr id="4" name="">
            <a:extLst xmlns:a="http://schemas.openxmlformats.org/drawingml/2006/main">
              <a:ext uri="{FF2B5EF4-FFF2-40B4-BE49-F238E27FC236}">
                <a16:creationId xmlns:a16="http://schemas.microsoft.com/office/drawing/2014/main" id="{720D4687-6EAB-4E1B-A03D-A7F76870055B}"/>
              </a:ext>
            </a:extLst>
          </p:cNvPr>
          <p:cNvSpPr>
            <a:spLocks xmlns:a="http://schemas.openxmlformats.org/drawingml/2006/main" noGrp="1"/>
          </p:cNvSpPr>
          <p:nvPr/>
        </p:nvSpPr>
        <p:spPr>
          <a:xfrm xmlns:a="http://schemas.openxmlformats.org/drawingml/2006/main">
            <a:off x="571500" y="2143125"/>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C3B"/>
                </a:solidFill>
                <a:latin typeface="Helvetica Neue"/>
                <a:ea typeface="Helvetica Neue"/>
                <a:cs typeface="Helvetica Neue"/>
              </a:defRPr>
            </a:pPr>
            <a:r>
              <a:rPr sz="2550" b="1">
                <a:solidFill>
                  <a:srgbClr val="183C3B"/>
                </a:solidFill>
                <a:latin typeface="Helvetica Neue"/>
                <a:ea typeface="Helvetica Neue"/>
                <a:cs typeface="Helvetica Neue"/>
              </a:rPr>
              <a:t>16 Remotive jobs</a:t>
            </a:r>
          </a:p>
          <a:p xmlns:a="http://schemas.openxmlformats.org/drawingml/2006/main">
            <a:pPr>
              <a:defRPr sz="2550" b="1">
                <a:solidFill>
                  <a:srgbClr val="183C3B"/>
                </a:solidFill>
                <a:latin typeface="Helvetica Neue"/>
                <a:ea typeface="Helvetica Neue"/>
                <a:cs typeface="Helvetica Neue"/>
              </a:defRPr>
            </a:pPr>
            <a:r>
              <a:rPr sz="2550" b="1">
                <a:solidFill>
                  <a:srgbClr val="183C3B"/>
                </a:solidFill>
                <a:latin typeface="Helvetica Neue"/>
                <a:ea typeface="Helvetica Neue"/>
                <a:cs typeface="Helvetica Neue"/>
              </a:rPr>
              <a:t>325 Arbeitnow jobs</a:t>
            </a:r>
          </a:p>
        </p:txBody>
      </p:sp>
      <p:sp>
        <p:nvSpPr>
          <p:cNvPr id="5" name="">
            <a:extLst xmlns:a="http://schemas.openxmlformats.org/drawingml/2006/main">
              <a:ext uri="{FF2B5EF4-FFF2-40B4-BE49-F238E27FC236}">
                <a16:creationId xmlns:a16="http://schemas.microsoft.com/office/drawing/2014/main" id="{E85B9B4C-3372-4133-8013-A9792D008476}"/>
              </a:ext>
            </a:extLst>
          </p:cNvPr>
          <p:cNvSpPr>
            <a:spLocks xmlns:a="http://schemas.openxmlformats.org/drawingml/2006/main" noGrp="1"/>
          </p:cNvSpPr>
          <p:nvPr/>
        </p:nvSpPr>
        <p:spPr>
          <a:xfrm xmlns:a="http://schemas.openxmlformats.org/drawingml/2006/main">
            <a:off x="571500" y="3524250"/>
            <a:ext cx="4095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C3B"/>
                </a:solidFill>
                <a:latin typeface="Helvetica Neue"/>
                <a:ea typeface="Helvetica Neue"/>
                <a:cs typeface="Helvetica Neue"/>
              </a:defRPr>
            </a:pPr>
            <a:r>
              <a:rPr sz="1800" b="0">
                <a:solidFill>
                  <a:srgbClr val="183C3B"/>
                </a:solidFill>
                <a:latin typeface="Helvetica Neue"/>
                <a:ea typeface="Helvetica Neue"/>
                <a:cs typeface="Helvetica Neue"/>
              </a:rPr>
              <a:t>Six-hour collection interval</a:t>
            </a:r>
          </a:p>
          <a:p xmlns:a="http://schemas.openxmlformats.org/drawingml/2006/main">
            <a:pPr>
              <a:defRPr sz="1800" b="0">
                <a:solidFill>
                  <a:srgbClr val="183C3B"/>
                </a:solidFill>
                <a:latin typeface="Helvetica Neue"/>
                <a:ea typeface="Helvetica Neue"/>
                <a:cs typeface="Helvetica Neue"/>
              </a:defRPr>
            </a:pPr>
            <a:r>
              <a:rPr sz="1800" b="0">
                <a:solidFill>
                  <a:srgbClr val="183C3B"/>
                </a:solidFill>
                <a:latin typeface="Helvetica Neue"/>
                <a:ea typeface="Helvetica Neue"/>
                <a:cs typeface="Helvetica Neue"/>
              </a:rPr>
              <a:t>Source attribution and original links</a:t>
            </a:r>
          </a:p>
          <a:p xmlns:a="http://schemas.openxmlformats.org/drawingml/2006/main">
            <a:pPr>
              <a:defRPr sz="1800" b="0">
                <a:solidFill>
                  <a:srgbClr val="183C3B"/>
                </a:solidFill>
                <a:latin typeface="Helvetica Neue"/>
                <a:ea typeface="Helvetica Neue"/>
                <a:cs typeface="Helvetica Neue"/>
              </a:defRPr>
            </a:pPr>
            <a:r>
              <a:rPr sz="1800" b="0">
                <a:solidFill>
                  <a:srgbClr val="183C3B"/>
                </a:solidFill>
                <a:latin typeface="Helvetica Neue"/>
                <a:ea typeface="Helvetica Neue"/>
                <a:cs typeface="Helvetica Neue"/>
              </a:rPr>
              <a:t>CSV, JSON, JSON-LD and manual entry</a:t>
            </a:r>
          </a:p>
        </p:txBody>
      </p:sp>
      <p:sp>
        <p:nvSpPr>
          <p:cNvPr id="6" name="">
            <a:extLst xmlns:a="http://schemas.openxmlformats.org/drawingml/2006/main">
              <a:ext uri="{FF2B5EF4-FFF2-40B4-BE49-F238E27FC236}">
                <a16:creationId xmlns:a16="http://schemas.microsoft.com/office/drawing/2014/main" id="{5972F99A-5E0E-4D6A-8624-6C7010702431}"/>
              </a:ext>
            </a:extLst>
          </p:cNvPr>
          <p:cNvSpPr>
            <a:spLocks xmlns:a="http://schemas.openxmlformats.org/drawingml/2006/main" noGrp="1"/>
          </p:cNvSpPr>
          <p:nvPr/>
        </p:nvSpPr>
        <p:spPr>
          <a:xfrm xmlns:a="http://schemas.openxmlformats.org/drawingml/2006/main">
            <a:off x="571500" y="523875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C7D82"/>
                </a:solidFill>
                <a:latin typeface="Helvetica Neue"/>
                <a:ea typeface="Helvetica Neue"/>
                <a:cs typeface="Helvetica Neue"/>
              </a:defRPr>
            </a:pPr>
            <a:r>
              <a:rPr sz="1575" b="0">
                <a:solidFill>
                  <a:srgbClr val="6C7D82"/>
                </a:solidFill>
                <a:latin typeface="Helvetica Neue"/>
                <a:ea typeface="Helvetica Neue"/>
                <a:cs typeface="Helvetica Neue"/>
              </a:rPr>
              <a:t>Geographic coverage is mainly overseas and remote. Restricted domestic sites require authorized imports.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332ac4c44754502"/>
          <a:stretch xmlns:a="http://schemas.openxmlformats.org/drawingml/2006/main"/>
        </p:blipFill>
        <p:spPr>
          <a:xfrm xmlns:a="http://schemas.openxmlformats.org/drawingml/2006/main">
            <a:off x="5454015" y="1962150"/>
            <a:ext cx="5760720" cy="4000500"/>
          </a:xfrm>
          <a:prstGeom xmlns:a="http://schemas.openxmlformats.org/drawingml/2006/main" prst="rect">
            <a:avLst/>
          </a:prstGeom>
        </p:spPr>
      </p:pic>
    </p:spTree>
    <p:extLst>
      <p:ext uri="{BB962C8B-B14F-4D97-AF65-F5344CB8AC3E}">
        <p14:creationId xmlns:p14="http://schemas.microsoft.com/office/powerpoint/2010/main" val="1160060452"/>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D9C1A2-C07B-48FF-A0BB-6538F614C378}"/>
              </a:ext>
            </a:extLst>
          </p:cNvPr>
          <p:cNvSpPr>
            <a:spLocks xmlns:a="http://schemas.openxmlformats.org/drawingml/2006/main" noGrp="1"/>
          </p:cNvSpPr>
          <p:nvPr/>
        </p:nvSpPr>
        <p:spPr>
          <a:xfrm xmlns:a="http://schemas.openxmlformats.org/drawingml/2006/main">
            <a:off x="571500" y="428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C3B"/>
                </a:solidFill>
                <a:latin typeface="Helvetica Neue"/>
                <a:ea typeface="Helvetica Neue"/>
                <a:cs typeface="Helvetica Neue"/>
              </a:defRPr>
            </a:pPr>
            <a:r>
              <a:rPr sz="3000" b="1">
                <a:solidFill>
                  <a:srgbClr val="183C3B"/>
                </a:solidFill>
                <a:latin typeface="Helvetica Neue"/>
                <a:ea typeface="Helvetica Neue"/>
                <a:cs typeface="Helvetica Neue"/>
              </a:rPr>
              <a:t>Explainable matching with an AI assistant</a:t>
            </a:r>
          </a:p>
        </p:txBody>
      </p:sp>
      <p:sp>
        <p:nvSpPr>
          <p:cNvPr id="2" name="">
            <a:extLst xmlns:a="http://schemas.openxmlformats.org/drawingml/2006/main">
              <a:ext uri="{FF2B5EF4-FFF2-40B4-BE49-F238E27FC236}">
                <a16:creationId xmlns:a16="http://schemas.microsoft.com/office/drawing/2014/main" id="{57FB6F6F-A86E-4272-8CCC-342561BAB34C}"/>
              </a:ext>
            </a:extLst>
          </p:cNvPr>
          <p:cNvSpPr>
            <a:spLocks xmlns:a="http://schemas.openxmlformats.org/drawingml/2006/main" noGrp="1"/>
          </p:cNvSpPr>
          <p:nvPr/>
        </p:nvSpPr>
        <p:spPr>
          <a:xfrm xmlns:a="http://schemas.openxmlformats.org/drawingml/2006/main">
            <a:off x="571500" y="63531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C7D82"/>
                </a:solidFill>
                <a:latin typeface="Helvetica Neue"/>
                <a:ea typeface="Helvetica Neue"/>
                <a:cs typeface="Helvetica Neue"/>
              </a:defRPr>
            </a:pPr>
            <a:r>
              <a:rPr sz="1050" b="0">
                <a:solidFill>
                  <a:srgbClr val="6C7D82"/>
                </a:solidFill>
                <a:latin typeface="Helvetica Neue"/>
                <a:ea typeface="Helvetica Neue"/>
                <a:cs typeface="Helvetica Neue"/>
              </a:rPr>
              <a:t>JobCompass    INT6181    4 / 5</a:t>
            </a:r>
          </a:p>
        </p:txBody>
      </p:sp>
      <p:sp>
        <p:nvSpPr>
          <p:cNvPr id="3" name="">
            <a:extLst xmlns:a="http://schemas.openxmlformats.org/drawingml/2006/main">
              <a:ext uri="{FF2B5EF4-FFF2-40B4-BE49-F238E27FC236}">
                <a16:creationId xmlns:a16="http://schemas.microsoft.com/office/drawing/2014/main" id="{DCD48F81-49A1-44D8-A571-D385D1F11101}"/>
              </a:ext>
            </a:extLst>
          </p:cNvPr>
          <p:cNvSpPr>
            <a:spLocks xmlns:a="http://schemas.openxmlformats.org/drawingml/2006/main" noGrp="1"/>
          </p:cNvSpPr>
          <p:nvPr/>
        </p:nvSpPr>
        <p:spPr>
          <a:xfrm xmlns:a="http://schemas.openxmlformats.org/drawingml/2006/main">
            <a:off x="571500" y="11239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C7D82"/>
                </a:solidFill>
                <a:latin typeface="Helvetica Neue"/>
                <a:ea typeface="Helvetica Neue"/>
                <a:cs typeface="Helvetica Neue"/>
              </a:defRPr>
            </a:pPr>
            <a:r>
              <a:rPr sz="1950" b="0">
                <a:solidFill>
                  <a:srgbClr val="6C7D82"/>
                </a:solidFill>
                <a:latin typeface="Helvetica Neue"/>
                <a:ea typeface="Helvetica Neue"/>
                <a:cs typeface="Helvetica Neue"/>
              </a:rPr>
              <a:t>A reproducible ranking score, with evidence for each component</a:t>
            </a:r>
          </a:p>
        </p:txBody>
      </p:sp>
      <p:graphicFrame>
        <p:nvGraphicFramePr>
          <p:cNvPr id="12" name="Chart"/>
          <p:cNvGraphicFramePr/>
          <p:nvPr/>
        </p:nvGraphicFramePr>
        <p:xfrm>
          <a:off xmlns:a="http://schemas.openxmlformats.org/drawingml/2006/main" x="523875" y="2047875"/>
          <a:ext xmlns:a="http://schemas.openxmlformats.org/drawingml/2006/main" cx="5715000" cy="3429000"/>
        </p:xfrm>
        <a:graphic xmlns:a="http://schemas.openxmlformats.org/drawingml/2006/main">
          <a:graphicData uri="http://schemas.openxmlformats.org/drawingml/2006/chart">
            <c:chart xmlns:r="http://schemas.openxmlformats.org/officeDocument/2006/relationships" xmlns:c="http://schemas.openxmlformats.org/drawingml/2006/chart" r:id="Re17e856070404942"/>
          </a:graphicData>
        </a:graphic>
      </p:graphicFrame>
      <p:sp>
        <p:nvSpPr>
          <p:cNvPr id="5" name="">
            <a:extLst xmlns:a="http://schemas.openxmlformats.org/drawingml/2006/main">
              <a:ext uri="{FF2B5EF4-FFF2-40B4-BE49-F238E27FC236}">
                <a16:creationId xmlns:a16="http://schemas.microsoft.com/office/drawing/2014/main" id="{708964F9-346C-4E07-BEC3-B512D821E7E7}"/>
              </a:ext>
            </a:extLst>
          </p:cNvPr>
          <p:cNvSpPr>
            <a:spLocks xmlns:a="http://schemas.openxmlformats.org/drawingml/2006/main" noGrp="1"/>
          </p:cNvSpPr>
          <p:nvPr/>
        </p:nvSpPr>
        <p:spPr>
          <a:xfrm xmlns:a="http://schemas.openxmlformats.org/drawingml/2006/main">
            <a:off x="6762750" y="21526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C3B"/>
                </a:solidFill>
                <a:latin typeface="Helvetica Neue"/>
                <a:ea typeface="Helvetica Neue"/>
                <a:cs typeface="Helvetica Neue"/>
              </a:defRPr>
            </a:pPr>
            <a:r>
              <a:rPr sz="2175" b="1">
                <a:solidFill>
                  <a:srgbClr val="183C3B"/>
                </a:solidFill>
                <a:latin typeface="Helvetica Neue"/>
                <a:ea typeface="Helvetica Neue"/>
                <a:cs typeface="Helvetica Neue"/>
              </a:rPr>
              <a:t>Weighted skill F1</a:t>
            </a:r>
          </a:p>
        </p:txBody>
      </p:sp>
      <p:sp>
        <p:nvSpPr>
          <p:cNvPr id="6" name="">
            <a:extLst xmlns:a="http://schemas.openxmlformats.org/drawingml/2006/main">
              <a:ext uri="{FF2B5EF4-FFF2-40B4-BE49-F238E27FC236}">
                <a16:creationId xmlns:a16="http://schemas.microsoft.com/office/drawing/2014/main" id="{AED01E7F-24DF-4846-87EA-D66B08AC74E8}"/>
              </a:ext>
            </a:extLst>
          </p:cNvPr>
          <p:cNvSpPr>
            <a:spLocks xmlns:a="http://schemas.openxmlformats.org/drawingml/2006/main" noGrp="1"/>
          </p:cNvSpPr>
          <p:nvPr/>
        </p:nvSpPr>
        <p:spPr>
          <a:xfrm xmlns:a="http://schemas.openxmlformats.org/drawingml/2006/main">
            <a:off x="6762750" y="276225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C3B"/>
                </a:solidFill>
                <a:latin typeface="Helvetica Neue"/>
                <a:ea typeface="Helvetica Neue"/>
                <a:cs typeface="Helvetica Neue"/>
              </a:defRPr>
            </a:pPr>
            <a:r>
              <a:rPr sz="1800" b="0">
                <a:solidFill>
                  <a:srgbClr val="183C3B"/>
                </a:solidFill>
                <a:latin typeface="Helvetica Neue"/>
                <a:ea typeface="Helvetica Neue"/>
                <a:cs typeface="Helvetica Neue"/>
              </a:rPr>
              <a:t>Generic skills carry less weight.</a:t>
            </a:r>
          </a:p>
          <a:p xmlns:a="http://schemas.openxmlformats.org/drawingml/2006/main">
            <a:pPr>
              <a:defRPr sz="1800" b="0">
                <a:solidFill>
                  <a:srgbClr val="183C3B"/>
                </a:solidFill>
                <a:latin typeface="Helvetica Neue"/>
                <a:ea typeface="Helvetica Neue"/>
                <a:cs typeface="Helvetica Neue"/>
              </a:defRPr>
            </a:pPr>
            <a:r>
              <a:rPr sz="1800" b="0">
                <a:solidFill>
                  <a:srgbClr val="183C3B"/>
                </a:solidFill>
                <a:latin typeface="Helvetica Neue"/>
                <a:ea typeface="Helvetica Neue"/>
                <a:cs typeface="Helvetica Neue"/>
              </a:rPr>
              <a:t>Unknown requirements stay unknown.</a:t>
            </a:r>
          </a:p>
          <a:p xmlns:a="http://schemas.openxmlformats.org/drawingml/2006/main">
            <a:pPr>
              <a:defRPr sz="1800" b="0">
                <a:solidFill>
                  <a:srgbClr val="183C3B"/>
                </a:solidFill>
                <a:latin typeface="Helvetica Neue"/>
                <a:ea typeface="Helvetica Neue"/>
                <a:cs typeface="Helvetica Neue"/>
              </a:defRPr>
            </a:pPr>
            <a:r>
              <a:rPr sz="1800" b="0">
                <a:solidFill>
                  <a:srgbClr val="183C3B"/>
                </a:solidFill>
                <a:latin typeface="Helvetica Neue"/>
                <a:ea typeface="Helvetica Neue"/>
                <a:cs typeface="Helvetica Neue"/>
              </a:rPr>
              <a:t>Remote does not mean worldwide.</a:t>
            </a:r>
          </a:p>
        </p:txBody>
      </p:sp>
      <p:sp>
        <p:nvSpPr>
          <p:cNvPr id="7" name="">
            <a:extLst xmlns:a="http://schemas.openxmlformats.org/drawingml/2006/main">
              <a:ext uri="{FF2B5EF4-FFF2-40B4-BE49-F238E27FC236}">
                <a16:creationId xmlns:a16="http://schemas.microsoft.com/office/drawing/2014/main" id="{849A1B3C-D645-44EE-BA27-45C5E41D7460}"/>
              </a:ext>
            </a:extLst>
          </p:cNvPr>
          <p:cNvSpPr>
            <a:spLocks xmlns:a="http://schemas.openxmlformats.org/drawingml/2006/main" noGrp="1"/>
          </p:cNvSpPr>
          <p:nvPr/>
        </p:nvSpPr>
        <p:spPr>
          <a:xfrm xmlns:a="http://schemas.openxmlformats.org/drawingml/2006/main">
            <a:off x="6762750" y="4686300"/>
            <a:ext cx="428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C7D82"/>
                </a:solidFill>
                <a:latin typeface="Helvetica Neue"/>
                <a:ea typeface="Helvetica Neue"/>
                <a:cs typeface="Helvetica Neue"/>
              </a:defRPr>
            </a:pPr>
            <a:r>
              <a:rPr sz="1800" b="0">
                <a:solidFill>
                  <a:srgbClr val="6C7D82"/>
                </a:solidFill>
                <a:latin typeface="Helvetica Neue"/>
                <a:ea typeface="Helvetica Neue"/>
                <a:cs typeface="Helvetica Neue"/>
              </a:rPr>
              <a:t>DeepSeek improves explanations and resume wording. It does not set the ranking score.</a:t>
            </a:r>
          </a:p>
        </p:txBody>
      </p:sp>
      <p:sp>
        <p:nvSpPr>
          <p:cNvPr id="8" name="">
            <a:extLst xmlns:a="http://schemas.openxmlformats.org/drawingml/2006/main">
              <a:ext uri="{FF2B5EF4-FFF2-40B4-BE49-F238E27FC236}">
                <a16:creationId xmlns:a16="http://schemas.microsoft.com/office/drawing/2014/main" id="{1EF5F46B-7560-4621-9B39-C677DA4C019F}"/>
              </a:ext>
            </a:extLst>
          </p:cNvPr>
          <p:cNvSpPr>
            <a:spLocks xmlns:a="http://schemas.openxmlformats.org/drawingml/2006/main" noGrp="1"/>
          </p:cNvSpPr>
          <p:nvPr/>
        </p:nvSpPr>
        <p:spPr>
          <a:xfrm xmlns:a="http://schemas.openxmlformats.org/drawingml/2006/main">
            <a:off x="571500" y="572452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C7D82"/>
                </a:solidFill>
                <a:latin typeface="Helvetica Neue"/>
                <a:ea typeface="Helvetica Neue"/>
                <a:cs typeface="Helvetica Neue"/>
              </a:defRPr>
            </a:pPr>
            <a:r>
              <a:rPr sz="1650" b="0">
                <a:solidFill>
                  <a:srgbClr val="6C7D82"/>
                </a:solidFill>
                <a:latin typeface="Helvetica Neue"/>
                <a:ea typeface="Helvetica Neue"/>
                <a:cs typeface="Helvetica Neue"/>
              </a:rPr>
              <a:t>Scores are ranking indicators, not hiring probabilities.</a:t>
            </a:r>
          </a:p>
        </p:txBody>
      </p:sp>
    </p:spTree>
    <p:extLst>
      <p:ext uri="{BB962C8B-B14F-4D97-AF65-F5344CB8AC3E}">
        <p14:creationId xmlns:p14="http://schemas.microsoft.com/office/powerpoint/2010/main" val="395433985"/>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CDFBFA-CCBE-4DC7-AE7F-5CC163F54880}"/>
              </a:ext>
            </a:extLst>
          </p:cNvPr>
          <p:cNvSpPr>
            <a:spLocks xmlns:a="http://schemas.openxmlformats.org/drawingml/2006/main" noGrp="1"/>
          </p:cNvSpPr>
          <p:nvPr/>
        </p:nvSpPr>
        <p:spPr>
          <a:xfrm xmlns:a="http://schemas.openxmlformats.org/drawingml/2006/main">
            <a:off x="571500" y="42862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C3B"/>
                </a:solidFill>
                <a:latin typeface="Helvetica Neue"/>
                <a:ea typeface="Helvetica Neue"/>
                <a:cs typeface="Helvetica Neue"/>
              </a:defRPr>
            </a:pPr>
            <a:r>
              <a:rPr sz="3000" b="1">
                <a:solidFill>
                  <a:srgbClr val="183C3B"/>
                </a:solidFill>
                <a:latin typeface="Helvetica Neue"/>
                <a:ea typeface="Helvetica Neue"/>
                <a:cs typeface="Helvetica Neue"/>
              </a:rPr>
              <a:t>Evaluation, demonstration and limitations</a:t>
            </a:r>
          </a:p>
        </p:txBody>
      </p:sp>
      <p:sp>
        <p:nvSpPr>
          <p:cNvPr id="2" name="">
            <a:extLst xmlns:a="http://schemas.openxmlformats.org/drawingml/2006/main">
              <a:ext uri="{FF2B5EF4-FFF2-40B4-BE49-F238E27FC236}">
                <a16:creationId xmlns:a16="http://schemas.microsoft.com/office/drawing/2014/main" id="{EC3CB490-0BDE-405C-ABEE-74A24AB5E8BA}"/>
              </a:ext>
            </a:extLst>
          </p:cNvPr>
          <p:cNvSpPr>
            <a:spLocks xmlns:a="http://schemas.openxmlformats.org/drawingml/2006/main" noGrp="1"/>
          </p:cNvSpPr>
          <p:nvPr/>
        </p:nvSpPr>
        <p:spPr>
          <a:xfrm xmlns:a="http://schemas.openxmlformats.org/drawingml/2006/main">
            <a:off x="571500" y="6353175"/>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C7D82"/>
                </a:solidFill>
                <a:latin typeface="Helvetica Neue"/>
                <a:ea typeface="Helvetica Neue"/>
                <a:cs typeface="Helvetica Neue"/>
              </a:defRPr>
            </a:pPr>
            <a:r>
              <a:rPr sz="1050" b="0">
                <a:solidFill>
                  <a:srgbClr val="6C7D82"/>
                </a:solidFill>
                <a:latin typeface="Helvetica Neue"/>
                <a:ea typeface="Helvetica Neue"/>
                <a:cs typeface="Helvetica Neue"/>
              </a:rPr>
              <a:t>JobCompass    INT6181    5 / 5</a:t>
            </a:r>
          </a:p>
        </p:txBody>
      </p:sp>
      <p:sp>
        <p:nvSpPr>
          <p:cNvPr id="3" name="">
            <a:extLst xmlns:a="http://schemas.openxmlformats.org/drawingml/2006/main">
              <a:ext uri="{FF2B5EF4-FFF2-40B4-BE49-F238E27FC236}">
                <a16:creationId xmlns:a16="http://schemas.microsoft.com/office/drawing/2014/main" id="{EEBBCEB7-717E-4352-9747-BD4F036966FD}"/>
              </a:ext>
            </a:extLst>
          </p:cNvPr>
          <p:cNvSpPr>
            <a:spLocks xmlns:a="http://schemas.openxmlformats.org/drawingml/2006/main" noGrp="1"/>
          </p:cNvSpPr>
          <p:nvPr/>
        </p:nvSpPr>
        <p:spPr>
          <a:xfrm xmlns:a="http://schemas.openxmlformats.org/drawingml/2006/main">
            <a:off x="571500" y="14763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7D75"/>
                </a:solidFill>
                <a:latin typeface="Helvetica Neue"/>
                <a:ea typeface="Helvetica Neue"/>
                <a:cs typeface="Helvetica Neue"/>
              </a:defRPr>
            </a:pPr>
            <a:r>
              <a:rPr sz="3150" b="1">
                <a:solidFill>
                  <a:srgbClr val="087D75"/>
                </a:solidFill>
                <a:latin typeface="Helvetica Neue"/>
                <a:ea typeface="Helvetica Neue"/>
                <a:cs typeface="Helvetica Neue"/>
              </a:rPr>
              <a:t>64 offline tests passed</a:t>
            </a:r>
          </a:p>
        </p:txBody>
      </p:sp>
      <p:sp>
        <p:nvSpPr>
          <p:cNvPr id="4" name="">
            <a:extLst xmlns:a="http://schemas.openxmlformats.org/drawingml/2006/main">
              <a:ext uri="{FF2B5EF4-FFF2-40B4-BE49-F238E27FC236}">
                <a16:creationId xmlns:a16="http://schemas.microsoft.com/office/drawing/2014/main" id="{517175A1-ED93-46C0-A576-2AD0BAFBBAB0}"/>
              </a:ext>
            </a:extLst>
          </p:cNvPr>
          <p:cNvSpPr>
            <a:spLocks xmlns:a="http://schemas.openxmlformats.org/drawingml/2006/main" noGrp="1"/>
          </p:cNvSpPr>
          <p:nvPr/>
        </p:nvSpPr>
        <p:spPr>
          <a:xfrm xmlns:a="http://schemas.openxmlformats.org/drawingml/2006/main">
            <a:off x="571500" y="2400300"/>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C3B"/>
                </a:solidFill>
                <a:latin typeface="Helvetica Neue"/>
                <a:ea typeface="Helvetica Neue"/>
                <a:cs typeface="Helvetica Neue"/>
              </a:defRPr>
            </a:pPr>
            <a:r>
              <a:rPr sz="2025" b="0">
                <a:solidFill>
                  <a:srgbClr val="183C3B"/>
                </a:solidFill>
                <a:latin typeface="Helvetica Neue"/>
                <a:ea typeface="Helvetica Neue"/>
                <a:cs typeface="Helvetica Neue"/>
              </a:rPr>
              <a:t>Real collection and DeepSeek requests verified</a:t>
            </a:r>
          </a:p>
          <a:p xmlns:a="http://schemas.openxmlformats.org/drawingml/2006/main">
            <a:pPr>
              <a:defRPr sz="2025" b="0">
                <a:solidFill>
                  <a:srgbClr val="183C3B"/>
                </a:solidFill>
                <a:latin typeface="Helvetica Neue"/>
                <a:ea typeface="Helvetica Neue"/>
                <a:cs typeface="Helvetica Neue"/>
              </a:defRPr>
            </a:pPr>
            <a:r>
              <a:rPr sz="2025" b="0">
                <a:solidFill>
                  <a:srgbClr val="183C3B"/>
                </a:solidFill>
                <a:latin typeface="Helvetica Neue"/>
                <a:ea typeface="Helvetica Neue"/>
                <a:cs typeface="Helvetica Neue"/>
              </a:rPr>
              <a:t>1,200 sample jobs ranked in about 0.055 seconds</a:t>
            </a:r>
          </a:p>
          <a:p xmlns:a="http://schemas.openxmlformats.org/drawingml/2006/main">
            <a:pPr>
              <a:defRPr sz="2025" b="0">
                <a:solidFill>
                  <a:srgbClr val="183C3B"/>
                </a:solidFill>
                <a:latin typeface="Helvetica Neue"/>
                <a:ea typeface="Helvetica Neue"/>
                <a:cs typeface="Helvetica Neue"/>
              </a:defRPr>
            </a:pPr>
            <a:r>
              <a:rPr sz="2025" b="0">
                <a:solidFill>
                  <a:srgbClr val="183C3B"/>
                </a:solidFill>
                <a:latin typeface="Helvetica Neue"/>
                <a:ea typeface="Helvetica Neue"/>
                <a:cs typeface="Helvetica Neue"/>
              </a:rPr>
              <a:t>Precision@4 = 1.0 on 12 synthetic labelled jobs</a:t>
            </a:r>
          </a:p>
        </p:txBody>
      </p:sp>
      <p:sp>
        <p:nvSpPr>
          <p:cNvPr id="5" name="">
            <a:extLst xmlns:a="http://schemas.openxmlformats.org/drawingml/2006/main">
              <a:ext uri="{FF2B5EF4-FFF2-40B4-BE49-F238E27FC236}">
                <a16:creationId xmlns:a16="http://schemas.microsoft.com/office/drawing/2014/main" id="{007575C8-1CAE-442B-AE99-FEAAE81345F9}"/>
              </a:ext>
            </a:extLst>
          </p:cNvPr>
          <p:cNvSpPr>
            <a:spLocks xmlns:a="http://schemas.openxmlformats.org/drawingml/2006/main" noGrp="1"/>
          </p:cNvSpPr>
          <p:nvPr/>
        </p:nvSpPr>
        <p:spPr>
          <a:xfrm xmlns:a="http://schemas.openxmlformats.org/drawingml/2006/main">
            <a:off x="571500" y="4210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C3B"/>
                </a:solidFill>
                <a:latin typeface="Helvetica Neue"/>
                <a:ea typeface="Helvetica Neue"/>
                <a:cs typeface="Helvetica Neue"/>
              </a:defRPr>
            </a:pPr>
            <a:r>
              <a:rPr sz="2100" b="1">
                <a:solidFill>
                  <a:srgbClr val="183C3B"/>
                </a:solidFill>
                <a:latin typeface="Helvetica Neue"/>
                <a:ea typeface="Helvetica Neue"/>
                <a:cs typeface="Helvetica Neue"/>
              </a:rPr>
              <a:t>What the evidence means</a:t>
            </a:r>
          </a:p>
        </p:txBody>
      </p:sp>
      <p:sp>
        <p:nvSpPr>
          <p:cNvPr id="6" name="">
            <a:extLst xmlns:a="http://schemas.openxmlformats.org/drawingml/2006/main">
              <a:ext uri="{FF2B5EF4-FFF2-40B4-BE49-F238E27FC236}">
                <a16:creationId xmlns:a16="http://schemas.microsoft.com/office/drawing/2014/main" id="{30A1A442-2C92-41B5-A72D-0960E146C303}"/>
              </a:ext>
            </a:extLst>
          </p:cNvPr>
          <p:cNvSpPr>
            <a:spLocks xmlns:a="http://schemas.openxmlformats.org/drawingml/2006/main" noGrp="1"/>
          </p:cNvSpPr>
          <p:nvPr/>
        </p:nvSpPr>
        <p:spPr>
          <a:xfrm xmlns:a="http://schemas.openxmlformats.org/drawingml/2006/main">
            <a:off x="571500" y="48101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7D82"/>
                </a:solidFill>
                <a:latin typeface="Helvetica Neue"/>
                <a:ea typeface="Helvetica Neue"/>
                <a:cs typeface="Helvetica Neue"/>
              </a:defRPr>
            </a:pPr>
            <a:r>
              <a:rPr sz="1725" b="0">
                <a:solidFill>
                  <a:srgbClr val="6C7D82"/>
                </a:solidFill>
                <a:latin typeface="Helvetica Neue"/>
                <a:ea typeface="Helvetica Neue"/>
                <a:cs typeface="Helvetica Neue"/>
              </a:rPr>
              <a:t>Tests verify specified behavior. Synthetic labels do not establish real hiring accuracy. Cloud CI is configured but has not run.</a:t>
            </a:r>
          </a:p>
        </p:txBody>
      </p:sp>
      <p:sp>
        <p:nvSpPr>
          <p:cNvPr id="7" name="">
            <a:extLst xmlns:a="http://schemas.openxmlformats.org/drawingml/2006/main">
              <a:ext uri="{FF2B5EF4-FFF2-40B4-BE49-F238E27FC236}">
                <a16:creationId xmlns:a16="http://schemas.microsoft.com/office/drawing/2014/main" id="{70CD3BC9-A1CD-4200-82FA-B101EDBD146F}"/>
              </a:ext>
            </a:extLst>
          </p:cNvPr>
          <p:cNvSpPr>
            <a:spLocks xmlns:a="http://schemas.openxmlformats.org/drawingml/2006/main" noGrp="1"/>
          </p:cNvSpPr>
          <p:nvPr/>
        </p:nvSpPr>
        <p:spPr>
          <a:xfrm xmlns:a="http://schemas.openxmlformats.org/drawingml/2006/main">
            <a:off x="6667500" y="4210050"/>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C3B"/>
                </a:solidFill>
                <a:latin typeface="Helvetica Neue"/>
                <a:ea typeface="Helvetica Neue"/>
                <a:cs typeface="Helvetica Neue"/>
              </a:defRPr>
            </a:pPr>
            <a:r>
              <a:rPr sz="2100" b="1">
                <a:solidFill>
                  <a:srgbClr val="183C3B"/>
                </a:solidFill>
                <a:latin typeface="Helvetica Neue"/>
                <a:ea typeface="Helvetica Neue"/>
                <a:cs typeface="Helvetica Neue"/>
              </a:rPr>
              <a:t>Live demonstration</a:t>
            </a:r>
          </a:p>
        </p:txBody>
      </p:sp>
      <p:sp>
        <p:nvSpPr>
          <p:cNvPr id="8" name="">
            <a:extLst xmlns:a="http://schemas.openxmlformats.org/drawingml/2006/main">
              <a:ext uri="{FF2B5EF4-FFF2-40B4-BE49-F238E27FC236}">
                <a16:creationId xmlns:a16="http://schemas.microsoft.com/office/drawing/2014/main" id="{C255A513-5B2C-4A44-B123-7616A2DFD7F4}"/>
              </a:ext>
            </a:extLst>
          </p:cNvPr>
          <p:cNvSpPr>
            <a:spLocks xmlns:a="http://schemas.openxmlformats.org/drawingml/2006/main" noGrp="1"/>
          </p:cNvSpPr>
          <p:nvPr/>
        </p:nvSpPr>
        <p:spPr>
          <a:xfrm xmlns:a="http://schemas.openxmlformats.org/drawingml/2006/main">
            <a:off x="6667500" y="4810125"/>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7D82"/>
                </a:solidFill>
                <a:latin typeface="Helvetica Neue"/>
                <a:ea typeface="Helvetica Neue"/>
                <a:cs typeface="Helvetica Neue"/>
              </a:defRPr>
            </a:pPr>
            <a:r>
              <a:rPr sz="1725" b="0">
                <a:solidFill>
                  <a:srgbClr val="6C7D82"/>
                </a:solidFill>
                <a:latin typeface="Helvetica Neue"/>
                <a:ea typeface="Helvetica Neue"/>
                <a:cs typeface="Helvetica Neue"/>
              </a:rPr>
              <a:t>Load a resume, inspect score components, generate an AI draft and move a saved job to the application board.</a:t>
            </a:r>
          </a:p>
        </p:txBody>
      </p:sp>
    </p:spTree>
    <p:extLst>
      <p:ext uri="{BB962C8B-B14F-4D97-AF65-F5344CB8AC3E}">
        <p14:creationId xmlns:p14="http://schemas.microsoft.com/office/powerpoint/2010/main" val="17176164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2026-09-30T08:20:33.5010000Z</dcterms:created>
  <dcterms:modified xsi:type="dcterms:W3CDTF">2026-09-30T08:20:33.5010000Z</dcterms:modified>
</coreProperties>
</file>